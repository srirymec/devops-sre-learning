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0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5A4E-1B66-45CD-BE53-965881627D36}" type="datetimeFigureOut">
              <a:rPr lang="en-US" smtClean="0"/>
              <a:t>7/16/2016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F5DE-737D-44E5-977D-B45BD671BB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5A4E-1B66-45CD-BE53-965881627D36}" type="datetimeFigureOut">
              <a:rPr lang="en-US" smtClean="0"/>
              <a:t>7/16/2016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F5DE-737D-44E5-977D-B45BD671BB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5A4E-1B66-45CD-BE53-965881627D36}" type="datetimeFigureOut">
              <a:rPr lang="en-US" smtClean="0"/>
              <a:t>7/16/2016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F5DE-737D-44E5-977D-B45BD671BB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5A4E-1B66-45CD-BE53-965881627D36}" type="datetimeFigureOut">
              <a:rPr lang="en-US" smtClean="0"/>
              <a:t>7/16/2016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F5DE-737D-44E5-977D-B45BD671BB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5A4E-1B66-45CD-BE53-965881627D36}" type="datetimeFigureOut">
              <a:rPr lang="en-US" smtClean="0"/>
              <a:t>7/16/2016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F5DE-737D-44E5-977D-B45BD671BB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5A4E-1B66-45CD-BE53-965881627D36}" type="datetimeFigureOut">
              <a:rPr lang="en-US" smtClean="0"/>
              <a:t>7/16/2016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F5DE-737D-44E5-977D-B45BD671BB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5A4E-1B66-45CD-BE53-965881627D36}" type="datetimeFigureOut">
              <a:rPr lang="en-US" smtClean="0"/>
              <a:t>7/16/2016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F5DE-737D-44E5-977D-B45BD671BB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5A4E-1B66-45CD-BE53-965881627D36}" type="datetimeFigureOut">
              <a:rPr lang="en-US" smtClean="0"/>
              <a:t>7/16/2016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F5DE-737D-44E5-977D-B45BD671BB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5A4E-1B66-45CD-BE53-965881627D36}" type="datetimeFigureOut">
              <a:rPr lang="en-US" smtClean="0"/>
              <a:t>7/16/2016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F5DE-737D-44E5-977D-B45BD671BB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5A4E-1B66-45CD-BE53-965881627D36}" type="datetimeFigureOut">
              <a:rPr lang="en-US" smtClean="0"/>
              <a:t>7/16/2016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F5DE-737D-44E5-977D-B45BD671BB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5A4E-1B66-45CD-BE53-965881627D36}" type="datetimeFigureOut">
              <a:rPr lang="en-US" smtClean="0"/>
              <a:t>7/16/2016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F5DE-737D-44E5-977D-B45BD671BB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C5A4E-1B66-45CD-BE53-965881627D36}" type="datetimeFigureOut">
              <a:rPr lang="en-US" smtClean="0"/>
              <a:t>7/16/2016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1F5DE-737D-44E5-977D-B45BD671BBA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emf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ge.puppetlabs.com/puppetlabs/apt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s.puppetlabs.com/windows/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uppetlabs.com/references/latest/type.html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forge.puppetlabs.com/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7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uppetlabs.com/mcollective/reference/basic/basic_cli_usage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Puppet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At the end of the topic you’ll know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295400"/>
            <a:ext cx="8229600" cy="47244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 is Puppet 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How puppet works?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Installing puppet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Configuring puppet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 Agent/Master setup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 Language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 Modules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MCollective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85000" lnSpcReduction="20000"/>
          </a:bodyPr>
          <a:lstStyle/>
          <a:p>
            <a:pPr marL="225425" indent="0">
              <a:buNone/>
            </a:pPr>
            <a:r>
              <a:rPr lang="en-US" sz="4000" dirty="0" smtClean="0">
                <a:solidFill>
                  <a:srgbClr val="7030A0"/>
                </a:solidFill>
              </a:rPr>
              <a:t>Software Installation ??</a:t>
            </a:r>
          </a:p>
          <a:p>
            <a:pPr marL="225425" indent="0">
              <a:buNone/>
            </a:pPr>
            <a:r>
              <a:rPr lang="en-US" dirty="0" smtClean="0"/>
              <a:t>	Software installation is the act of making the software ready for execution. </a:t>
            </a:r>
          </a:p>
          <a:p>
            <a:pPr marL="225425" indent="0">
              <a:buNone/>
            </a:pPr>
            <a:r>
              <a:rPr lang="en-US" dirty="0" smtClean="0"/>
              <a:t>						</a:t>
            </a:r>
            <a:r>
              <a:rPr lang="en-US" b="1" dirty="0" smtClean="0"/>
              <a:t> </a:t>
            </a:r>
            <a:endParaRPr lang="en-US" dirty="0" smtClean="0"/>
          </a:p>
          <a:p>
            <a:pPr marL="225425" indent="0">
              <a:buNone/>
            </a:pPr>
            <a:r>
              <a:rPr lang="en-US" sz="4000" dirty="0" smtClean="0">
                <a:solidFill>
                  <a:srgbClr val="7030A0"/>
                </a:solidFill>
              </a:rPr>
              <a:t>Patch Management ??</a:t>
            </a:r>
          </a:p>
          <a:p>
            <a:pPr marL="225425" indent="0">
              <a:buNone/>
            </a:pPr>
            <a:r>
              <a:rPr lang="en-US" dirty="0" smtClean="0"/>
              <a:t>	Patch management is the process of applying software updates to installed software systems.</a:t>
            </a:r>
          </a:p>
          <a:p>
            <a:pPr marL="225425" indent="0">
              <a:buNone/>
            </a:pPr>
            <a:r>
              <a:rPr lang="en-US" dirty="0" smtClean="0"/>
              <a:t>						</a:t>
            </a:r>
          </a:p>
          <a:p>
            <a:pPr marL="225425" indent="0">
              <a:buNone/>
            </a:pPr>
            <a:endParaRPr lang="en-US" sz="3600" dirty="0" smtClean="0"/>
          </a:p>
          <a:p>
            <a:pPr marL="225425" indent="0">
              <a:buNone/>
            </a:pPr>
            <a:r>
              <a:rPr lang="en-US" sz="3600" dirty="0" smtClean="0"/>
              <a:t> If that sounds simple, you haven’t done it on a large complex scale.</a:t>
            </a:r>
          </a:p>
          <a:p>
            <a:pPr marL="225425" indent="0">
              <a:buNone/>
            </a:pPr>
            <a:r>
              <a:rPr lang="en-US" dirty="0" smtClean="0"/>
              <a:t>	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Recalling DevOps</a:t>
            </a:r>
            <a:endParaRPr lang="en-US" b="1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3086100" y="2119815"/>
            <a:ext cx="0" cy="345997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8" name="Picture 37" descr="Clien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0100" y="2545658"/>
            <a:ext cx="731520" cy="638765"/>
          </a:xfrm>
          <a:prstGeom prst="rect">
            <a:avLst/>
          </a:prstGeom>
        </p:spPr>
      </p:pic>
      <p:pic>
        <p:nvPicPr>
          <p:cNvPr id="39" name="Picture 38" descr="Clien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0100" y="3211038"/>
            <a:ext cx="731520" cy="638765"/>
          </a:xfrm>
          <a:prstGeom prst="rect">
            <a:avLst/>
          </a:prstGeom>
        </p:spPr>
      </p:pic>
      <p:pic>
        <p:nvPicPr>
          <p:cNvPr id="40" name="Picture 39" descr="Clien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0100" y="3984780"/>
            <a:ext cx="731520" cy="638765"/>
          </a:xfrm>
          <a:prstGeom prst="rect">
            <a:avLst/>
          </a:prstGeom>
        </p:spPr>
      </p:pic>
      <p:pic>
        <p:nvPicPr>
          <p:cNvPr id="41" name="Picture 40" descr="Clien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0100" y="4648259"/>
            <a:ext cx="731520" cy="638765"/>
          </a:xfrm>
          <a:prstGeom prst="rect">
            <a:avLst/>
          </a:prstGeom>
        </p:spPr>
      </p:pic>
      <p:cxnSp>
        <p:nvCxnSpPr>
          <p:cNvPr id="42" name="Straight Connector 41"/>
          <p:cNvCxnSpPr>
            <a:stCxn id="38" idx="3"/>
            <a:endCxn id="47" idx="1"/>
          </p:cNvCxnSpPr>
          <p:nvPr/>
        </p:nvCxnSpPr>
        <p:spPr>
          <a:xfrm flipV="1">
            <a:off x="1531620" y="2724817"/>
            <a:ext cx="2178187" cy="140224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9" idx="3"/>
            <a:endCxn id="47" idx="1"/>
          </p:cNvCxnSpPr>
          <p:nvPr/>
        </p:nvCxnSpPr>
        <p:spPr>
          <a:xfrm flipV="1">
            <a:off x="1531620" y="2724817"/>
            <a:ext cx="2178187" cy="805604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0" idx="3"/>
            <a:endCxn id="47" idx="1"/>
          </p:cNvCxnSpPr>
          <p:nvPr/>
        </p:nvCxnSpPr>
        <p:spPr>
          <a:xfrm flipV="1">
            <a:off x="1531620" y="2724817"/>
            <a:ext cx="2178187" cy="1579346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1" idx="3"/>
            <a:endCxn id="47" idx="1"/>
          </p:cNvCxnSpPr>
          <p:nvPr/>
        </p:nvCxnSpPr>
        <p:spPr>
          <a:xfrm flipV="1">
            <a:off x="1531620" y="2724817"/>
            <a:ext cx="2178187" cy="2242825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46" name="Group 45"/>
          <p:cNvGrpSpPr/>
          <p:nvPr/>
        </p:nvGrpSpPr>
        <p:grpSpPr>
          <a:xfrm>
            <a:off x="3545499" y="2341097"/>
            <a:ext cx="988401" cy="776787"/>
            <a:chOff x="3659799" y="1777415"/>
            <a:chExt cx="988401" cy="889585"/>
          </a:xfrm>
        </p:grpSpPr>
        <p:pic>
          <p:nvPicPr>
            <p:cNvPr id="47" name="Picture 2" descr="D:\Data\TMS\Octocat,_a_Mascot_of_Github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4107" y="1919107"/>
              <a:ext cx="595493" cy="5954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Rounded Rectangle 47"/>
            <p:cNvSpPr/>
            <p:nvPr/>
          </p:nvSpPr>
          <p:spPr>
            <a:xfrm>
              <a:off x="3659799" y="1777415"/>
              <a:ext cx="988401" cy="889585"/>
            </a:xfrm>
            <a:prstGeom prst="roundRect">
              <a:avLst>
                <a:gd name="adj" fmla="val 9818"/>
              </a:avLst>
            </a:prstGeom>
            <a:noFill/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</p:grpSp>
      <p:cxnSp>
        <p:nvCxnSpPr>
          <p:cNvPr id="49" name="Straight Connector 48"/>
          <p:cNvCxnSpPr>
            <a:stCxn id="47" idx="3"/>
            <a:endCxn id="52" idx="1"/>
          </p:cNvCxnSpPr>
          <p:nvPr/>
        </p:nvCxnSpPr>
        <p:spPr>
          <a:xfrm flipV="1">
            <a:off x="4305300" y="2598889"/>
            <a:ext cx="1182741" cy="125928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TextBox 30"/>
          <p:cNvSpPr txBox="1"/>
          <p:nvPr/>
        </p:nvSpPr>
        <p:spPr>
          <a:xfrm>
            <a:off x="7505700" y="3116586"/>
            <a:ext cx="831492" cy="1343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 smtClean="0">
                <a:latin typeface="Helvetica Neue"/>
                <a:cs typeface="Helvetica Neue"/>
              </a:rPr>
              <a:t>AWS S3</a:t>
            </a:r>
            <a:endParaRPr lang="en-US" sz="1000" dirty="0">
              <a:latin typeface="Helvetica Neue"/>
              <a:cs typeface="Helvetica Neue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219700" y="2119814"/>
            <a:ext cx="3124200" cy="1864965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52" name="Picture 51" descr="EC2-Instanc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88041" y="2380746"/>
            <a:ext cx="499638" cy="436285"/>
          </a:xfrm>
          <a:prstGeom prst="rect">
            <a:avLst/>
          </a:prstGeom>
        </p:spPr>
      </p:pic>
      <p:sp>
        <p:nvSpPr>
          <p:cNvPr id="53" name="TextBox 30"/>
          <p:cNvSpPr txBox="1"/>
          <p:nvPr/>
        </p:nvSpPr>
        <p:spPr>
          <a:xfrm>
            <a:off x="5322114" y="2276163"/>
            <a:ext cx="831492" cy="1343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 smtClean="0">
                <a:latin typeface="Helvetica Neue"/>
                <a:cs typeface="Helvetica Neue"/>
              </a:rPr>
              <a:t>Jenkins</a:t>
            </a:r>
            <a:endParaRPr lang="en-US" sz="1000" dirty="0">
              <a:latin typeface="Helvetica Neue"/>
              <a:cs typeface="Helvetica Neue"/>
            </a:endParaRPr>
          </a:p>
        </p:txBody>
      </p:sp>
      <p:pic>
        <p:nvPicPr>
          <p:cNvPr id="54" name="Picture 53" descr="Database_Amazon RDS MySQL DB Instance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34100" y="2844180"/>
            <a:ext cx="694450" cy="606395"/>
          </a:xfrm>
          <a:prstGeom prst="rect">
            <a:avLst/>
          </a:prstGeom>
        </p:spPr>
      </p:pic>
      <p:pic>
        <p:nvPicPr>
          <p:cNvPr id="55" name="Picture 54" descr="EC2-Instanc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18521" y="3250961"/>
            <a:ext cx="499638" cy="436285"/>
          </a:xfrm>
          <a:prstGeom prst="rect">
            <a:avLst/>
          </a:prstGeom>
        </p:spPr>
      </p:pic>
      <p:sp>
        <p:nvSpPr>
          <p:cNvPr id="56" name="TextBox 30"/>
          <p:cNvSpPr txBox="1"/>
          <p:nvPr/>
        </p:nvSpPr>
        <p:spPr>
          <a:xfrm>
            <a:off x="5870979" y="3454497"/>
            <a:ext cx="567921" cy="1343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 smtClean="0">
                <a:latin typeface="Helvetica Neue"/>
                <a:cs typeface="Helvetica Neue"/>
              </a:rPr>
              <a:t>Sonar</a:t>
            </a:r>
            <a:endParaRPr lang="en-US" sz="1000" dirty="0">
              <a:latin typeface="Helvetica Neue"/>
              <a:cs typeface="Helvetica Neue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372100" y="2252890"/>
            <a:ext cx="1600200" cy="1401177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58" name="Straight Connector 57"/>
          <p:cNvCxnSpPr>
            <a:stCxn id="52" idx="3"/>
            <a:endCxn id="54" idx="0"/>
          </p:cNvCxnSpPr>
          <p:nvPr/>
        </p:nvCxnSpPr>
        <p:spPr>
          <a:xfrm>
            <a:off x="5987679" y="2598888"/>
            <a:ext cx="493646" cy="24529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S3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703339" y="2611126"/>
            <a:ext cx="549602" cy="479914"/>
          </a:xfrm>
          <a:prstGeom prst="rect">
            <a:avLst/>
          </a:prstGeom>
        </p:spPr>
      </p:pic>
      <p:cxnSp>
        <p:nvCxnSpPr>
          <p:cNvPr id="60" name="Straight Connector 59"/>
          <p:cNvCxnSpPr>
            <a:stCxn id="52" idx="3"/>
            <a:endCxn id="59" idx="1"/>
          </p:cNvCxnSpPr>
          <p:nvPr/>
        </p:nvCxnSpPr>
        <p:spPr>
          <a:xfrm>
            <a:off x="5987679" y="2598888"/>
            <a:ext cx="1715660" cy="252195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52" idx="2"/>
            <a:endCxn id="55" idx="0"/>
          </p:cNvCxnSpPr>
          <p:nvPr/>
        </p:nvCxnSpPr>
        <p:spPr>
          <a:xfrm>
            <a:off x="5737860" y="2817031"/>
            <a:ext cx="30480" cy="4339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97308" y="1210260"/>
            <a:ext cx="7537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7030A0"/>
                </a:solidFill>
              </a:rPr>
              <a:t>Develop → Push → Build → Save </a:t>
            </a:r>
            <a:r>
              <a:rPr lang="en-US" sz="2800" dirty="0">
                <a:solidFill>
                  <a:srgbClr val="7030A0"/>
                </a:solidFill>
              </a:rPr>
              <a:t>Artifact</a:t>
            </a:r>
            <a:endParaRPr lang="en-US" sz="2800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3" name="Picture 62" descr="AWS-Cloud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98485" y="1931357"/>
            <a:ext cx="378721" cy="330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19200" y="1447801"/>
            <a:ext cx="6934200" cy="4228172"/>
            <a:chOff x="4614863" y="744412"/>
            <a:chExt cx="1752600" cy="1733550"/>
          </a:xfrm>
        </p:grpSpPr>
        <p:sp>
          <p:nvSpPr>
            <p:cNvPr id="5" name="Rounded Rectangle 4"/>
            <p:cNvSpPr/>
            <p:nvPr/>
          </p:nvSpPr>
          <p:spPr>
            <a:xfrm>
              <a:off x="4614863" y="744412"/>
              <a:ext cx="1752600" cy="1733550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ys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6" name="TextBox 33"/>
            <p:cNvSpPr txBox="1">
              <a:spLocks noChangeArrowheads="1"/>
            </p:cNvSpPr>
            <p:nvPr/>
          </p:nvSpPr>
          <p:spPr bwMode="auto">
            <a:xfrm>
              <a:off x="4721225" y="2243138"/>
              <a:ext cx="1555750" cy="946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b="1" dirty="0" smtClean="0">
                  <a:latin typeface="Helvetica Neue"/>
                  <a:ea typeface="Verdana" pitchFamily="34" charset="0"/>
                  <a:cs typeface="Helvetica Neue"/>
                </a:rPr>
                <a:t>US-WEST</a:t>
              </a:r>
              <a:endParaRPr lang="en-US" sz="900" b="1" dirty="0">
                <a:latin typeface="Helvetica Neue"/>
                <a:ea typeface="Verdana" pitchFamily="34" charset="0"/>
                <a:cs typeface="Helvetica Neue"/>
              </a:endParaRP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1371600" y="1752934"/>
            <a:ext cx="6629400" cy="3733466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Recalling DevOps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913471" y="1219200"/>
            <a:ext cx="7392329" cy="4724399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0" name="Picture 9" descr="AWS-Clou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9200" y="914400"/>
            <a:ext cx="609933" cy="609933"/>
          </a:xfrm>
          <a:prstGeom prst="rect">
            <a:avLst/>
          </a:prstGeom>
        </p:spPr>
      </p:pic>
      <p:pic>
        <p:nvPicPr>
          <p:cNvPr id="11" name="Picture 10" descr="VPC-Clou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6000" y="1371600"/>
            <a:ext cx="599171" cy="599171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2133599" y="1934845"/>
            <a:ext cx="5000625" cy="1555750"/>
            <a:chOff x="4629150" y="2824163"/>
            <a:chExt cx="1752600" cy="1821589"/>
          </a:xfrm>
        </p:grpSpPr>
        <p:sp>
          <p:nvSpPr>
            <p:cNvPr id="13" name="Rounded Rectangle 12"/>
            <p:cNvSpPr/>
            <p:nvPr/>
          </p:nvSpPr>
          <p:spPr>
            <a:xfrm>
              <a:off x="4629150" y="2824163"/>
              <a:ext cx="1752600" cy="1733550"/>
            </a:xfrm>
            <a:prstGeom prst="roundRect">
              <a:avLst>
                <a:gd name="adj" fmla="val 9818"/>
              </a:avLst>
            </a:prstGeom>
            <a:noFill/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14" name="TextBox 37"/>
            <p:cNvSpPr txBox="1">
              <a:spLocks noChangeArrowheads="1"/>
            </p:cNvSpPr>
            <p:nvPr/>
          </p:nvSpPr>
          <p:spPr bwMode="auto">
            <a:xfrm>
              <a:off x="4721225" y="4314826"/>
              <a:ext cx="1555750" cy="3309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 smtClean="0">
                  <a:latin typeface="Helvetica Neue"/>
                  <a:ea typeface="Verdana" pitchFamily="34" charset="0"/>
                  <a:cs typeface="Helvetica Neue"/>
                </a:rPr>
                <a:t>Public Subnet</a:t>
              </a:r>
              <a:endParaRPr lang="en-US" sz="900" dirty="0">
                <a:latin typeface="Helvetica Neue"/>
                <a:ea typeface="Verdana" pitchFamily="34" charset="0"/>
                <a:cs typeface="Helvetica Neue"/>
              </a:endParaRP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828800"/>
            <a:ext cx="215900" cy="241300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1640025" y="1785380"/>
            <a:ext cx="6056176" cy="1744060"/>
            <a:chOff x="2937743" y="740403"/>
            <a:chExt cx="707662" cy="803740"/>
          </a:xfrm>
        </p:grpSpPr>
        <p:sp>
          <p:nvSpPr>
            <p:cNvPr id="17" name="Rounded Rectangle 16"/>
            <p:cNvSpPr/>
            <p:nvPr/>
          </p:nvSpPr>
          <p:spPr>
            <a:xfrm>
              <a:off x="2937743" y="760412"/>
              <a:ext cx="707662" cy="783731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7981F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18" name="TextBox 32"/>
            <p:cNvSpPr txBox="1">
              <a:spLocks noChangeArrowheads="1"/>
            </p:cNvSpPr>
            <p:nvPr/>
          </p:nvSpPr>
          <p:spPr bwMode="auto">
            <a:xfrm>
              <a:off x="3228583" y="740403"/>
              <a:ext cx="338922" cy="91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b="1" dirty="0" smtClean="0">
                  <a:solidFill>
                    <a:srgbClr val="F7981F"/>
                  </a:solidFill>
                  <a:latin typeface="Helvetica Neue"/>
                  <a:ea typeface="Verdana" pitchFamily="34" charset="0"/>
                  <a:cs typeface="Helvetica Neue"/>
                </a:rPr>
                <a:t>US-WEST-2A</a:t>
              </a:r>
              <a:endParaRPr lang="en-US" sz="900" b="1" dirty="0">
                <a:solidFill>
                  <a:srgbClr val="F7981F"/>
                </a:solidFill>
                <a:latin typeface="Helvetica Neue"/>
                <a:ea typeface="Verdana" pitchFamily="34" charset="0"/>
                <a:cs typeface="Helvetica Neue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133599" y="3780226"/>
            <a:ext cx="2600125" cy="1248974"/>
            <a:chOff x="4629150" y="2824163"/>
            <a:chExt cx="1752600" cy="1828623"/>
          </a:xfrm>
        </p:grpSpPr>
        <p:sp>
          <p:nvSpPr>
            <p:cNvPr id="20" name="Rounded Rectangle 19"/>
            <p:cNvSpPr/>
            <p:nvPr/>
          </p:nvSpPr>
          <p:spPr>
            <a:xfrm>
              <a:off x="4629150" y="2824163"/>
              <a:ext cx="1752600" cy="1733550"/>
            </a:xfrm>
            <a:prstGeom prst="roundRect">
              <a:avLst>
                <a:gd name="adj" fmla="val 9818"/>
              </a:avLst>
            </a:prstGeom>
            <a:noFill/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21" name="TextBox 37"/>
            <p:cNvSpPr txBox="1">
              <a:spLocks noChangeArrowheads="1"/>
            </p:cNvSpPr>
            <p:nvPr/>
          </p:nvSpPr>
          <p:spPr bwMode="auto">
            <a:xfrm>
              <a:off x="4721225" y="4314825"/>
              <a:ext cx="1555750" cy="337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 smtClean="0">
                  <a:latin typeface="Helvetica Neue"/>
                  <a:ea typeface="Verdana" pitchFamily="34" charset="0"/>
                  <a:cs typeface="Helvetica Neue"/>
                </a:rPr>
                <a:t>Private Subnet 1</a:t>
              </a:r>
              <a:endParaRPr lang="en-US" sz="900" dirty="0">
                <a:latin typeface="Helvetica Neue"/>
                <a:ea typeface="Verdana" pitchFamily="34" charset="0"/>
                <a:cs typeface="Helvetica Neue"/>
              </a:endParaRPr>
            </a:p>
          </p:txBody>
        </p: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207" y="3673710"/>
            <a:ext cx="147463" cy="164812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5486400" y="3780226"/>
            <a:ext cx="1752600" cy="1248974"/>
            <a:chOff x="4629150" y="2824163"/>
            <a:chExt cx="1752600" cy="1828623"/>
          </a:xfrm>
        </p:grpSpPr>
        <p:sp>
          <p:nvSpPr>
            <p:cNvPr id="24" name="Rounded Rectangle 23"/>
            <p:cNvSpPr/>
            <p:nvPr/>
          </p:nvSpPr>
          <p:spPr>
            <a:xfrm>
              <a:off x="4629150" y="2824163"/>
              <a:ext cx="1752600" cy="1733550"/>
            </a:xfrm>
            <a:prstGeom prst="roundRect">
              <a:avLst>
                <a:gd name="adj" fmla="val 9818"/>
              </a:avLst>
            </a:prstGeom>
            <a:noFill/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25" name="TextBox 37"/>
            <p:cNvSpPr txBox="1">
              <a:spLocks noChangeArrowheads="1"/>
            </p:cNvSpPr>
            <p:nvPr/>
          </p:nvSpPr>
          <p:spPr bwMode="auto">
            <a:xfrm>
              <a:off x="4721225" y="4314825"/>
              <a:ext cx="1555750" cy="337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 smtClean="0">
                  <a:latin typeface="Helvetica Neue"/>
                  <a:ea typeface="Verdana" pitchFamily="34" charset="0"/>
                  <a:cs typeface="Helvetica Neue"/>
                </a:rPr>
                <a:t>Private Subnet 2</a:t>
              </a:r>
              <a:endParaRPr lang="en-US" sz="900" dirty="0">
                <a:latin typeface="Helvetica Neue"/>
                <a:ea typeface="Verdana" pitchFamily="34" charset="0"/>
                <a:cs typeface="Helvetica Neue"/>
              </a:endParaRP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007" y="3673710"/>
            <a:ext cx="147463" cy="164812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1956245" y="3595620"/>
            <a:ext cx="2935795" cy="1585980"/>
            <a:chOff x="2549525" y="760413"/>
            <a:chExt cx="1689100" cy="1744577"/>
          </a:xfrm>
        </p:grpSpPr>
        <p:sp>
          <p:nvSpPr>
            <p:cNvPr id="28" name="Rounded Rectangle 27"/>
            <p:cNvSpPr/>
            <p:nvPr/>
          </p:nvSpPr>
          <p:spPr>
            <a:xfrm>
              <a:off x="2549525" y="760413"/>
              <a:ext cx="1689100" cy="1733550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7981F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29" name="TextBox 32"/>
            <p:cNvSpPr txBox="1">
              <a:spLocks noChangeArrowheads="1"/>
            </p:cNvSpPr>
            <p:nvPr/>
          </p:nvSpPr>
          <p:spPr bwMode="auto">
            <a:xfrm>
              <a:off x="2619375" y="2251075"/>
              <a:ext cx="1557338" cy="2539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b="1" dirty="0" smtClean="0">
                  <a:solidFill>
                    <a:srgbClr val="F7981F"/>
                  </a:solidFill>
                  <a:latin typeface="Helvetica Neue"/>
                  <a:ea typeface="Verdana" pitchFamily="34" charset="0"/>
                  <a:cs typeface="Helvetica Neue"/>
                </a:rPr>
                <a:t>US-WEST-2a</a:t>
              </a:r>
              <a:endParaRPr lang="en-US" sz="900" b="1" dirty="0">
                <a:solidFill>
                  <a:srgbClr val="F7981F"/>
                </a:solidFill>
                <a:latin typeface="Helvetica Neue"/>
                <a:ea typeface="Verdana" pitchFamily="34" charset="0"/>
                <a:cs typeface="Helvetica Neue"/>
              </a:endParaRPr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5410200" y="3605645"/>
            <a:ext cx="2286001" cy="1575955"/>
          </a:xfrm>
          <a:prstGeom prst="roundRect">
            <a:avLst>
              <a:gd name="adj" fmla="val 9818"/>
            </a:avLst>
          </a:prstGeom>
          <a:noFill/>
          <a:ln w="19050">
            <a:solidFill>
              <a:srgbClr val="F7981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Helvetica Neue"/>
              <a:cs typeface="Helvetica Neue"/>
            </a:endParaRPr>
          </a:p>
        </p:txBody>
      </p:sp>
      <p:sp>
        <p:nvSpPr>
          <p:cNvPr id="31" name="TextBox 32"/>
          <p:cNvSpPr txBox="1">
            <a:spLocks noChangeArrowheads="1"/>
          </p:cNvSpPr>
          <p:nvPr/>
        </p:nvSpPr>
        <p:spPr bwMode="auto">
          <a:xfrm>
            <a:off x="5507021" y="4950768"/>
            <a:ext cx="1884379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 smtClean="0">
                <a:solidFill>
                  <a:srgbClr val="F7981F"/>
                </a:solidFill>
                <a:latin typeface="Helvetica Neue"/>
                <a:ea typeface="Verdana" pitchFamily="34" charset="0"/>
                <a:cs typeface="Helvetica Neue"/>
              </a:rPr>
              <a:t>US-WEST-2b</a:t>
            </a:r>
            <a:endParaRPr lang="en-US" sz="900" b="1" dirty="0">
              <a:solidFill>
                <a:srgbClr val="F7981F"/>
              </a:solidFill>
              <a:latin typeface="Helvetica Neue"/>
              <a:ea typeface="Verdana" pitchFamily="34" charset="0"/>
              <a:cs typeface="Helvetica Neue"/>
            </a:endParaRPr>
          </a:p>
        </p:txBody>
      </p:sp>
      <p:pic>
        <p:nvPicPr>
          <p:cNvPr id="32" name="Picture 31" descr="EC2-Instanc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6000" y="2057400"/>
            <a:ext cx="731520" cy="731520"/>
          </a:xfrm>
          <a:prstGeom prst="rect">
            <a:avLst/>
          </a:prstGeom>
        </p:spPr>
      </p:pic>
      <p:sp>
        <p:nvSpPr>
          <p:cNvPr id="33" name="TextBox 31"/>
          <p:cNvSpPr txBox="1"/>
          <p:nvPr/>
        </p:nvSpPr>
        <p:spPr>
          <a:xfrm>
            <a:off x="2177828" y="2896582"/>
            <a:ext cx="999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 smtClean="0">
                <a:latin typeface="Helvetica Neue"/>
                <a:cs typeface="Helvetica Neue"/>
              </a:rPr>
              <a:t>NAT Instance</a:t>
            </a:r>
            <a:endParaRPr lang="en-US" sz="1000" dirty="0">
              <a:latin typeface="Helvetica Neue"/>
              <a:cs typeface="Helvetica Neue"/>
            </a:endParaRPr>
          </a:p>
        </p:txBody>
      </p:sp>
      <p:pic>
        <p:nvPicPr>
          <p:cNvPr id="34" name="Picture 33" descr="EC2-Instanc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52800" y="2057400"/>
            <a:ext cx="731520" cy="731520"/>
          </a:xfrm>
          <a:prstGeom prst="rect">
            <a:avLst/>
          </a:prstGeom>
        </p:spPr>
      </p:pic>
      <p:sp>
        <p:nvSpPr>
          <p:cNvPr id="35" name="TextBox 31"/>
          <p:cNvSpPr txBox="1"/>
          <p:nvPr/>
        </p:nvSpPr>
        <p:spPr>
          <a:xfrm>
            <a:off x="3300327" y="2884829"/>
            <a:ext cx="999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 smtClean="0">
                <a:latin typeface="Helvetica Neue"/>
                <a:cs typeface="Helvetica Neue"/>
              </a:rPr>
              <a:t>Puppet Master</a:t>
            </a:r>
            <a:endParaRPr lang="en-US" sz="1000" dirty="0">
              <a:latin typeface="Helvetica Neue"/>
              <a:cs typeface="Helvetica Neue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638800" y="3886200"/>
            <a:ext cx="1404934" cy="872921"/>
            <a:chOff x="5638800" y="3886200"/>
            <a:chExt cx="1404934" cy="872921"/>
          </a:xfrm>
        </p:grpSpPr>
        <p:sp>
          <p:nvSpPr>
            <p:cNvPr id="37" name="TextBox 25"/>
            <p:cNvSpPr txBox="1"/>
            <p:nvPr/>
          </p:nvSpPr>
          <p:spPr>
            <a:xfrm>
              <a:off x="5706124" y="4267200"/>
              <a:ext cx="84707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 smtClean="0">
                  <a:latin typeface="Helvetica Neue"/>
                  <a:cs typeface="Helvetica Neue"/>
                </a:rPr>
                <a:t>MySQL RDS Instance</a:t>
              </a:r>
              <a:endParaRPr lang="en-US" sz="1000" dirty="0">
                <a:latin typeface="Helvetica Neue"/>
                <a:cs typeface="Helvetica Neue"/>
              </a:endParaRPr>
            </a:p>
          </p:txBody>
        </p:sp>
        <p:grpSp>
          <p:nvGrpSpPr>
            <p:cNvPr id="38" name="Group 73"/>
            <p:cNvGrpSpPr/>
            <p:nvPr/>
          </p:nvGrpSpPr>
          <p:grpSpPr>
            <a:xfrm>
              <a:off x="5638800" y="3886200"/>
              <a:ext cx="1404934" cy="872921"/>
              <a:chOff x="5638800" y="3886200"/>
              <a:chExt cx="1404934" cy="872921"/>
            </a:xfrm>
          </p:grpSpPr>
          <p:pic>
            <p:nvPicPr>
              <p:cNvPr id="39" name="Picture 38" descr="RDS-DB-Instace.png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5943600" y="3886200"/>
                <a:ext cx="412924" cy="412924"/>
              </a:xfrm>
              <a:prstGeom prst="rect">
                <a:avLst/>
              </a:prstGeom>
            </p:spPr>
          </p:pic>
          <p:grpSp>
            <p:nvGrpSpPr>
              <p:cNvPr id="40" name="Group 42"/>
              <p:cNvGrpSpPr/>
              <p:nvPr/>
            </p:nvGrpSpPr>
            <p:grpSpPr>
              <a:xfrm>
                <a:off x="5638800" y="3906970"/>
                <a:ext cx="1404934" cy="852151"/>
                <a:chOff x="6743700" y="760413"/>
                <a:chExt cx="1752600" cy="1826658"/>
              </a:xfrm>
            </p:grpSpPr>
            <p:grpSp>
              <p:nvGrpSpPr>
                <p:cNvPr id="41" name="Group 43"/>
                <p:cNvGrpSpPr>
                  <a:grpSpLocks/>
                </p:cNvGrpSpPr>
                <p:nvPr/>
              </p:nvGrpSpPr>
              <p:grpSpPr bwMode="auto">
                <a:xfrm>
                  <a:off x="6743700" y="760413"/>
                  <a:ext cx="1752600" cy="1733550"/>
                  <a:chOff x="545458" y="4783771"/>
                  <a:chExt cx="2293787" cy="1733798"/>
                </a:xfrm>
              </p:grpSpPr>
              <p:sp>
                <p:nvSpPr>
                  <p:cNvPr id="43" name="Rounded Rectangle 42"/>
                  <p:cNvSpPr/>
                  <p:nvPr/>
                </p:nvSpPr>
                <p:spPr>
                  <a:xfrm>
                    <a:off x="545458" y="4783771"/>
                    <a:ext cx="2293787" cy="1733798"/>
                  </a:xfrm>
                  <a:prstGeom prst="roundRect">
                    <a:avLst>
                      <a:gd name="adj" fmla="val 9818"/>
                    </a:avLst>
                  </a:prstGeom>
                  <a:noFill/>
                  <a:ln w="19050">
                    <a:solidFill>
                      <a:schemeClr val="tx1"/>
                    </a:solidFill>
                    <a:prstDash val="solid"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schemeClr val="tx1"/>
                      </a:solidFill>
                      <a:latin typeface="Helvetica Neue"/>
                      <a:cs typeface="Helvetica Neue"/>
                    </a:endParaRPr>
                  </a:p>
                </p:txBody>
              </p:sp>
              <p:sp>
                <p:nvSpPr>
                  <p:cNvPr id="44" name="Rounded Rectangle 43"/>
                  <p:cNvSpPr/>
                  <p:nvPr/>
                </p:nvSpPr>
                <p:spPr>
                  <a:xfrm>
                    <a:off x="545458" y="4783771"/>
                    <a:ext cx="2293787" cy="1733798"/>
                  </a:xfrm>
                  <a:prstGeom prst="roundRect">
                    <a:avLst>
                      <a:gd name="adj" fmla="val 9818"/>
                    </a:avLst>
                  </a:prstGeom>
                  <a:noFill/>
                  <a:ln w="19050">
                    <a:solidFill>
                      <a:srgbClr val="FF0000"/>
                    </a:solidFill>
                    <a:prstDash val="lgDash"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schemeClr val="tx1"/>
                      </a:solidFill>
                      <a:latin typeface="Helvetica Neue"/>
                      <a:cs typeface="Helvetica Neue"/>
                    </a:endParaRPr>
                  </a:p>
                </p:txBody>
              </p:sp>
            </p:grpSp>
            <p:sp>
              <p:nvSpPr>
                <p:cNvPr id="42" name="TextBox 34"/>
                <p:cNvSpPr txBox="1">
                  <a:spLocks noChangeArrowheads="1"/>
                </p:cNvSpPr>
                <p:nvPr/>
              </p:nvSpPr>
              <p:spPr bwMode="auto">
                <a:xfrm>
                  <a:off x="7617408" y="2092263"/>
                  <a:ext cx="878181" cy="4948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900" b="1" dirty="0" smtClean="0">
                      <a:solidFill>
                        <a:srgbClr val="6F2927"/>
                      </a:solidFill>
                      <a:latin typeface="Helvetica Neue"/>
                      <a:ea typeface="Verdana" pitchFamily="34" charset="0"/>
                      <a:cs typeface="Helvetica Neue"/>
                    </a:rPr>
                    <a:t>MySQL SG</a:t>
                  </a:r>
                  <a:endParaRPr lang="en-US" sz="900" b="1" dirty="0">
                    <a:solidFill>
                      <a:srgbClr val="6F2927"/>
                    </a:solidFill>
                    <a:latin typeface="Helvetica Neue"/>
                    <a:ea typeface="Verdana" pitchFamily="34" charset="0"/>
                    <a:cs typeface="Helvetica Neue"/>
                  </a:endParaRPr>
                </a:p>
              </p:txBody>
            </p:sp>
          </p:grpSp>
        </p:grpSp>
      </p:grpSp>
      <p:grpSp>
        <p:nvGrpSpPr>
          <p:cNvPr id="45" name="Group 44"/>
          <p:cNvGrpSpPr>
            <a:grpSpLocks/>
          </p:cNvGrpSpPr>
          <p:nvPr/>
        </p:nvGrpSpPr>
        <p:grpSpPr bwMode="auto">
          <a:xfrm>
            <a:off x="2329544" y="2057400"/>
            <a:ext cx="675704" cy="735195"/>
            <a:chOff x="545458" y="4783771"/>
            <a:chExt cx="2293787" cy="1733798"/>
          </a:xfrm>
        </p:grpSpPr>
        <p:sp>
          <p:nvSpPr>
            <p:cNvPr id="46" name="Rounded Rectangle 4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grpSp>
        <p:nvGrpSpPr>
          <p:cNvPr id="48" name="Group 47"/>
          <p:cNvGrpSpPr>
            <a:grpSpLocks/>
          </p:cNvGrpSpPr>
          <p:nvPr/>
        </p:nvGrpSpPr>
        <p:grpSpPr bwMode="auto">
          <a:xfrm>
            <a:off x="3371526" y="2069802"/>
            <a:ext cx="743274" cy="735195"/>
            <a:chOff x="545458" y="4783771"/>
            <a:chExt cx="2293787" cy="1733798"/>
          </a:xfrm>
        </p:grpSpPr>
        <p:sp>
          <p:nvSpPr>
            <p:cNvPr id="49" name="Rounded Rectangle 48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2209800" y="3831772"/>
            <a:ext cx="847076" cy="817916"/>
            <a:chOff x="2209800" y="3831772"/>
            <a:chExt cx="847076" cy="817916"/>
          </a:xfrm>
        </p:grpSpPr>
        <p:pic>
          <p:nvPicPr>
            <p:cNvPr id="52" name="Picture 51" descr="EC2-Instance.png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2209800" y="3952497"/>
              <a:ext cx="454216" cy="454216"/>
            </a:xfrm>
            <a:prstGeom prst="rect">
              <a:avLst/>
            </a:prstGeom>
          </p:spPr>
        </p:pic>
        <p:pic>
          <p:nvPicPr>
            <p:cNvPr id="53" name="Picture 37" descr="Auto-Scaling.png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2528348" y="3831772"/>
              <a:ext cx="256393" cy="256393"/>
            </a:xfrm>
            <a:prstGeom prst="rect">
              <a:avLst/>
            </a:prstGeom>
          </p:spPr>
        </p:pic>
        <p:grpSp>
          <p:nvGrpSpPr>
            <p:cNvPr id="54" name="Group 60"/>
            <p:cNvGrpSpPr>
              <a:grpSpLocks/>
            </p:cNvGrpSpPr>
            <p:nvPr/>
          </p:nvGrpSpPr>
          <p:grpSpPr bwMode="auto">
            <a:xfrm>
              <a:off x="2209800" y="3875314"/>
              <a:ext cx="675704" cy="607599"/>
              <a:chOff x="545458" y="4783771"/>
              <a:chExt cx="2293787" cy="1733798"/>
            </a:xfrm>
          </p:grpSpPr>
          <p:sp>
            <p:nvSpPr>
              <p:cNvPr id="56" name="Rounded Rectangle 55"/>
              <p:cNvSpPr/>
              <p:nvPr/>
            </p:nvSpPr>
            <p:spPr>
              <a:xfrm>
                <a:off x="545458" y="4783771"/>
                <a:ext cx="2293787" cy="1733798"/>
              </a:xfrm>
              <a:prstGeom prst="roundRect">
                <a:avLst>
                  <a:gd name="adj" fmla="val 9818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Helvetica Neue"/>
                  <a:cs typeface="Helvetica Neue"/>
                </a:endParaRPr>
              </a:p>
            </p:txBody>
          </p:sp>
          <p:sp>
            <p:nvSpPr>
              <p:cNvPr id="57" name="Rounded Rectangle 56"/>
              <p:cNvSpPr/>
              <p:nvPr/>
            </p:nvSpPr>
            <p:spPr>
              <a:xfrm>
                <a:off x="545458" y="4783771"/>
                <a:ext cx="2293787" cy="1733798"/>
              </a:xfrm>
              <a:prstGeom prst="roundRect">
                <a:avLst>
                  <a:gd name="adj" fmla="val 9818"/>
                </a:avLst>
              </a:prstGeom>
              <a:noFill/>
              <a:ln w="19050">
                <a:solidFill>
                  <a:srgbClr val="FF0000"/>
                </a:solidFill>
                <a:prstDash val="lg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Helvetica Neue"/>
                  <a:cs typeface="Helvetica Neue"/>
                </a:endParaRPr>
              </a:p>
            </p:txBody>
          </p:sp>
        </p:grpSp>
        <p:sp>
          <p:nvSpPr>
            <p:cNvPr id="55" name="TextBox 25"/>
            <p:cNvSpPr txBox="1"/>
            <p:nvPr/>
          </p:nvSpPr>
          <p:spPr>
            <a:xfrm>
              <a:off x="2209800" y="4495800"/>
              <a:ext cx="84707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 smtClean="0">
                  <a:latin typeface="Helvetica Neue"/>
                  <a:cs typeface="Helvetica Neue"/>
                </a:rPr>
                <a:t>Presentation</a:t>
              </a:r>
              <a:endParaRPr lang="en-US" sz="1000" dirty="0">
                <a:latin typeface="Helvetica Neue"/>
                <a:cs typeface="Helvetica Neue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877324" y="3886200"/>
            <a:ext cx="847076" cy="763488"/>
            <a:chOff x="3877324" y="3886200"/>
            <a:chExt cx="847076" cy="763488"/>
          </a:xfrm>
        </p:grpSpPr>
        <p:pic>
          <p:nvPicPr>
            <p:cNvPr id="59" name="Picture 38" descr="EC2-Instance.png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4025417" y="3983617"/>
              <a:ext cx="454216" cy="454216"/>
            </a:xfrm>
            <a:prstGeom prst="rect">
              <a:avLst/>
            </a:prstGeom>
          </p:spPr>
        </p:pic>
        <p:pic>
          <p:nvPicPr>
            <p:cNvPr id="60" name="Picture 59" descr="Auto-Scaling.png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4415115" y="3886200"/>
              <a:ext cx="233085" cy="233085"/>
            </a:xfrm>
            <a:prstGeom prst="rect">
              <a:avLst/>
            </a:prstGeom>
          </p:spPr>
        </p:pic>
        <p:grpSp>
          <p:nvGrpSpPr>
            <p:cNvPr id="61" name="Group 57"/>
            <p:cNvGrpSpPr>
              <a:grpSpLocks/>
            </p:cNvGrpSpPr>
            <p:nvPr/>
          </p:nvGrpSpPr>
          <p:grpSpPr bwMode="auto">
            <a:xfrm>
              <a:off x="3962400" y="3886200"/>
              <a:ext cx="675704" cy="607599"/>
              <a:chOff x="545458" y="4783771"/>
              <a:chExt cx="2293787" cy="1733798"/>
            </a:xfrm>
          </p:grpSpPr>
          <p:sp>
            <p:nvSpPr>
              <p:cNvPr id="63" name="Rounded Rectangle 58"/>
              <p:cNvSpPr/>
              <p:nvPr/>
            </p:nvSpPr>
            <p:spPr>
              <a:xfrm>
                <a:off x="545458" y="4783771"/>
                <a:ext cx="2293787" cy="1733798"/>
              </a:xfrm>
              <a:prstGeom prst="roundRect">
                <a:avLst>
                  <a:gd name="adj" fmla="val 9818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Helvetica Neue"/>
                  <a:cs typeface="Helvetica Neue"/>
                </a:endParaRPr>
              </a:p>
            </p:txBody>
          </p:sp>
          <p:sp>
            <p:nvSpPr>
              <p:cNvPr id="64" name="Rounded Rectangle 63"/>
              <p:cNvSpPr/>
              <p:nvPr/>
            </p:nvSpPr>
            <p:spPr>
              <a:xfrm>
                <a:off x="545458" y="4783771"/>
                <a:ext cx="2293787" cy="1733798"/>
              </a:xfrm>
              <a:prstGeom prst="roundRect">
                <a:avLst>
                  <a:gd name="adj" fmla="val 9818"/>
                </a:avLst>
              </a:prstGeom>
              <a:noFill/>
              <a:ln w="19050">
                <a:solidFill>
                  <a:srgbClr val="FF0000"/>
                </a:solidFill>
                <a:prstDash val="lg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Helvetica Neue"/>
                  <a:cs typeface="Helvetica Neue"/>
                </a:endParaRPr>
              </a:p>
            </p:txBody>
          </p:sp>
        </p:grpSp>
        <p:sp>
          <p:nvSpPr>
            <p:cNvPr id="62" name="TextBox 25"/>
            <p:cNvSpPr txBox="1"/>
            <p:nvPr/>
          </p:nvSpPr>
          <p:spPr>
            <a:xfrm>
              <a:off x="3877324" y="4495800"/>
              <a:ext cx="84707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 smtClean="0">
                  <a:latin typeface="Helvetica Neue"/>
                  <a:cs typeface="Helvetica Neue"/>
                </a:rPr>
                <a:t>Business</a:t>
              </a:r>
            </a:p>
          </p:txBody>
        </p:sp>
      </p:grpSp>
      <p:grpSp>
        <p:nvGrpSpPr>
          <p:cNvPr id="65" name="Group 54"/>
          <p:cNvGrpSpPr/>
          <p:nvPr/>
        </p:nvGrpSpPr>
        <p:grpSpPr>
          <a:xfrm>
            <a:off x="3039124" y="3886200"/>
            <a:ext cx="847076" cy="763488"/>
            <a:chOff x="3039124" y="3886200"/>
            <a:chExt cx="847076" cy="763488"/>
          </a:xfrm>
        </p:grpSpPr>
        <p:pic>
          <p:nvPicPr>
            <p:cNvPr id="66" name="Picture 65" descr="EC2-Instance.png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187217" y="3983617"/>
              <a:ext cx="454216" cy="454216"/>
            </a:xfrm>
            <a:prstGeom prst="rect">
              <a:avLst/>
            </a:prstGeom>
          </p:spPr>
        </p:pic>
        <p:grpSp>
          <p:nvGrpSpPr>
            <p:cNvPr id="67" name="Group 66"/>
            <p:cNvGrpSpPr>
              <a:grpSpLocks/>
            </p:cNvGrpSpPr>
            <p:nvPr/>
          </p:nvGrpSpPr>
          <p:grpSpPr bwMode="auto">
            <a:xfrm>
              <a:off x="3124200" y="3886200"/>
              <a:ext cx="675704" cy="607599"/>
              <a:chOff x="545458" y="4783771"/>
              <a:chExt cx="2293787" cy="1733798"/>
            </a:xfrm>
          </p:grpSpPr>
          <p:sp>
            <p:nvSpPr>
              <p:cNvPr id="69" name="Rounded Rectangle 68"/>
              <p:cNvSpPr/>
              <p:nvPr/>
            </p:nvSpPr>
            <p:spPr>
              <a:xfrm>
                <a:off x="545458" y="4783771"/>
                <a:ext cx="2293787" cy="1733798"/>
              </a:xfrm>
              <a:prstGeom prst="roundRect">
                <a:avLst>
                  <a:gd name="adj" fmla="val 9818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Helvetica Neue"/>
                  <a:cs typeface="Helvetica Neue"/>
                </a:endParaRPr>
              </a:p>
            </p:txBody>
          </p:sp>
          <p:sp>
            <p:nvSpPr>
              <p:cNvPr id="70" name="Rounded Rectangle 69"/>
              <p:cNvSpPr/>
              <p:nvPr/>
            </p:nvSpPr>
            <p:spPr>
              <a:xfrm>
                <a:off x="545458" y="4783771"/>
                <a:ext cx="2293787" cy="1733798"/>
              </a:xfrm>
              <a:prstGeom prst="roundRect">
                <a:avLst>
                  <a:gd name="adj" fmla="val 9818"/>
                </a:avLst>
              </a:prstGeom>
              <a:noFill/>
              <a:ln w="19050">
                <a:solidFill>
                  <a:srgbClr val="FF0000"/>
                </a:solidFill>
                <a:prstDash val="lg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Helvetica Neue"/>
                  <a:cs typeface="Helvetica Neue"/>
                </a:endParaRPr>
              </a:p>
            </p:txBody>
          </p:sp>
        </p:grpSp>
        <p:sp>
          <p:nvSpPr>
            <p:cNvPr id="68" name="TextBox 25"/>
            <p:cNvSpPr txBox="1"/>
            <p:nvPr/>
          </p:nvSpPr>
          <p:spPr>
            <a:xfrm>
              <a:off x="3039124" y="4495800"/>
              <a:ext cx="84707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 err="1" smtClean="0">
                  <a:latin typeface="Helvetica Neue"/>
                  <a:cs typeface="Helvetica Neue"/>
                </a:rPr>
                <a:t>Memcached</a:t>
              </a:r>
              <a:endParaRPr lang="en-US" sz="1000" dirty="0" smtClean="0">
                <a:latin typeface="Helvetica Neue"/>
                <a:cs typeface="Helvetica Neue"/>
              </a:endParaRPr>
            </a:p>
          </p:txBody>
        </p:sp>
      </p:grpSp>
      <p:cxnSp>
        <p:nvCxnSpPr>
          <p:cNvPr id="71" name="Elbow Connector 85"/>
          <p:cNvCxnSpPr>
            <a:stCxn id="52" idx="2"/>
            <a:endCxn id="80" idx="3"/>
          </p:cNvCxnSpPr>
          <p:nvPr/>
        </p:nvCxnSpPr>
        <p:spPr>
          <a:xfrm rot="5400000" flipH="1" flipV="1">
            <a:off x="3312777" y="1577771"/>
            <a:ext cx="1953073" cy="3704812"/>
          </a:xfrm>
          <a:prstGeom prst="bentConnector4">
            <a:avLst>
              <a:gd name="adj1" fmla="val -48491"/>
              <a:gd name="adj2" fmla="val 132908"/>
            </a:avLst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Elbow Connector 87"/>
          <p:cNvCxnSpPr>
            <a:endCxn id="39" idx="0"/>
          </p:cNvCxnSpPr>
          <p:nvPr/>
        </p:nvCxnSpPr>
        <p:spPr>
          <a:xfrm flipV="1">
            <a:off x="4479633" y="3886200"/>
            <a:ext cx="1670429" cy="324525"/>
          </a:xfrm>
          <a:prstGeom prst="bentConnector4">
            <a:avLst>
              <a:gd name="adj1" fmla="val 34045"/>
              <a:gd name="adj2" fmla="val 197276"/>
            </a:avLst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52" idx="3"/>
          </p:cNvCxnSpPr>
          <p:nvPr/>
        </p:nvCxnSpPr>
        <p:spPr>
          <a:xfrm>
            <a:off x="2664016" y="4179605"/>
            <a:ext cx="680700" cy="31120"/>
          </a:xfrm>
          <a:prstGeom prst="line">
            <a:avLst/>
          </a:prstGeom>
          <a:ln>
            <a:solidFill>
              <a:srgbClr val="414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oup 73"/>
          <p:cNvGrpSpPr/>
          <p:nvPr/>
        </p:nvGrpSpPr>
        <p:grpSpPr>
          <a:xfrm>
            <a:off x="4267200" y="2084205"/>
            <a:ext cx="762000" cy="735195"/>
            <a:chOff x="4267200" y="2084205"/>
            <a:chExt cx="762000" cy="735195"/>
          </a:xfrm>
        </p:grpSpPr>
        <p:pic>
          <p:nvPicPr>
            <p:cNvPr id="75" name="Picture 74" descr="Amazon-Elastic-Load-Balacing.png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4267200" y="2087880"/>
              <a:ext cx="731520" cy="731520"/>
            </a:xfrm>
            <a:prstGeom prst="rect">
              <a:avLst/>
            </a:prstGeom>
          </p:spPr>
        </p:pic>
        <p:grpSp>
          <p:nvGrpSpPr>
            <p:cNvPr id="76" name="Group 111"/>
            <p:cNvGrpSpPr>
              <a:grpSpLocks/>
            </p:cNvGrpSpPr>
            <p:nvPr/>
          </p:nvGrpSpPr>
          <p:grpSpPr bwMode="auto">
            <a:xfrm>
              <a:off x="4285926" y="2084205"/>
              <a:ext cx="743274" cy="735195"/>
              <a:chOff x="545458" y="4783771"/>
              <a:chExt cx="2293787" cy="1733798"/>
            </a:xfrm>
          </p:grpSpPr>
          <p:sp>
            <p:nvSpPr>
              <p:cNvPr id="77" name="Rounded Rectangle 76"/>
              <p:cNvSpPr/>
              <p:nvPr/>
            </p:nvSpPr>
            <p:spPr>
              <a:xfrm>
                <a:off x="545458" y="4783771"/>
                <a:ext cx="2293787" cy="1733798"/>
              </a:xfrm>
              <a:prstGeom prst="roundRect">
                <a:avLst>
                  <a:gd name="adj" fmla="val 9818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Helvetica Neue"/>
                  <a:cs typeface="Helvetica Neue"/>
                </a:endParaRPr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545458" y="4783771"/>
                <a:ext cx="2293787" cy="1733798"/>
              </a:xfrm>
              <a:prstGeom prst="roundRect">
                <a:avLst>
                  <a:gd name="adj" fmla="val 9818"/>
                </a:avLst>
              </a:prstGeom>
              <a:noFill/>
              <a:ln w="19050">
                <a:solidFill>
                  <a:srgbClr val="FF0000"/>
                </a:solidFill>
                <a:prstDash val="lg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Helvetica Neue"/>
                  <a:cs typeface="Helvetica Neue"/>
                </a:endParaRPr>
              </a:p>
            </p:txBody>
          </p:sp>
        </p:grpSp>
      </p:grpSp>
      <p:grpSp>
        <p:nvGrpSpPr>
          <p:cNvPr id="79" name="Group 78"/>
          <p:cNvGrpSpPr/>
          <p:nvPr/>
        </p:nvGrpSpPr>
        <p:grpSpPr>
          <a:xfrm>
            <a:off x="5410200" y="2084205"/>
            <a:ext cx="762000" cy="735195"/>
            <a:chOff x="5410200" y="2084205"/>
            <a:chExt cx="762000" cy="735195"/>
          </a:xfrm>
        </p:grpSpPr>
        <p:pic>
          <p:nvPicPr>
            <p:cNvPr id="80" name="Picture 79" descr="Amazon-Elastic-Load-Balacing.png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5410200" y="2087880"/>
              <a:ext cx="731520" cy="731520"/>
            </a:xfrm>
            <a:prstGeom prst="rect">
              <a:avLst/>
            </a:prstGeom>
          </p:spPr>
        </p:pic>
        <p:grpSp>
          <p:nvGrpSpPr>
            <p:cNvPr id="81" name="Group 115"/>
            <p:cNvGrpSpPr>
              <a:grpSpLocks/>
            </p:cNvGrpSpPr>
            <p:nvPr/>
          </p:nvGrpSpPr>
          <p:grpSpPr bwMode="auto">
            <a:xfrm>
              <a:off x="5428926" y="2084205"/>
              <a:ext cx="743274" cy="735195"/>
              <a:chOff x="545458" y="4783771"/>
              <a:chExt cx="2293787" cy="1733798"/>
            </a:xfrm>
          </p:grpSpPr>
          <p:sp>
            <p:nvSpPr>
              <p:cNvPr id="82" name="Rounded Rectangle 81"/>
              <p:cNvSpPr/>
              <p:nvPr/>
            </p:nvSpPr>
            <p:spPr>
              <a:xfrm>
                <a:off x="545458" y="4783771"/>
                <a:ext cx="2293787" cy="1733798"/>
              </a:xfrm>
              <a:prstGeom prst="roundRect">
                <a:avLst>
                  <a:gd name="adj" fmla="val 9818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Helvetica Neue"/>
                  <a:cs typeface="Helvetica Neue"/>
                </a:endParaRPr>
              </a:p>
            </p:txBody>
          </p:sp>
          <p:sp>
            <p:nvSpPr>
              <p:cNvPr id="83" name="Rounded Rectangle 82"/>
              <p:cNvSpPr/>
              <p:nvPr/>
            </p:nvSpPr>
            <p:spPr>
              <a:xfrm>
                <a:off x="545458" y="4783771"/>
                <a:ext cx="2293787" cy="1733798"/>
              </a:xfrm>
              <a:prstGeom prst="roundRect">
                <a:avLst>
                  <a:gd name="adj" fmla="val 9818"/>
                </a:avLst>
              </a:prstGeom>
              <a:noFill/>
              <a:ln w="19050">
                <a:solidFill>
                  <a:srgbClr val="FF0000"/>
                </a:solidFill>
                <a:prstDash val="lg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Helvetica Neue"/>
                  <a:cs typeface="Helvetica Neue"/>
                </a:endParaRPr>
              </a:p>
            </p:txBody>
          </p:sp>
        </p:grpSp>
      </p:grpSp>
      <p:cxnSp>
        <p:nvCxnSpPr>
          <p:cNvPr id="84" name="Straight Connector 83"/>
          <p:cNvCxnSpPr>
            <a:stCxn id="52" idx="0"/>
            <a:endCxn id="75" idx="2"/>
          </p:cNvCxnSpPr>
          <p:nvPr/>
        </p:nvCxnSpPr>
        <p:spPr>
          <a:xfrm flipV="1">
            <a:off x="2436908" y="2819400"/>
            <a:ext cx="2196052" cy="1133097"/>
          </a:xfrm>
          <a:prstGeom prst="line">
            <a:avLst/>
          </a:prstGeom>
          <a:ln>
            <a:solidFill>
              <a:srgbClr val="414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80" idx="2"/>
          </p:cNvCxnSpPr>
          <p:nvPr/>
        </p:nvCxnSpPr>
        <p:spPr>
          <a:xfrm flipV="1">
            <a:off x="4252525" y="2819400"/>
            <a:ext cx="1523435" cy="1164217"/>
          </a:xfrm>
          <a:prstGeom prst="line">
            <a:avLst/>
          </a:prstGeom>
          <a:ln>
            <a:solidFill>
              <a:srgbClr val="414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/>
          <p:cNvSpPr>
            <a:spLocks noGrp="1"/>
          </p:cNvSpPr>
          <p:nvPr>
            <p:ph type="title"/>
          </p:nvPr>
        </p:nvSpPr>
        <p:spPr>
          <a:xfrm>
            <a:off x="427616" y="3810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Puppet</a:t>
            </a:r>
            <a:endParaRPr lang="en-US" dirty="0"/>
          </a:p>
        </p:txBody>
      </p:sp>
      <p:sp>
        <p:nvSpPr>
          <p:cNvPr id="5" name="Content Placeholder 9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724400"/>
          </a:xfrm>
        </p:spPr>
        <p:txBody>
          <a:bodyPr>
            <a:normAutofit fontScale="85000" lnSpcReduction="20000"/>
          </a:bodyPr>
          <a:lstStyle/>
          <a:p>
            <a:pPr marL="225425" indent="0" algn="just">
              <a:buNone/>
            </a:pPr>
            <a:endParaRPr lang="en-US" dirty="0" smtClean="0"/>
          </a:p>
          <a:p>
            <a:pPr marL="225425" indent="0" algn="just">
              <a:buNone/>
            </a:pPr>
            <a:endParaRPr lang="en-US" dirty="0"/>
          </a:p>
          <a:p>
            <a:pPr marL="225425" indent="0" algn="just">
              <a:buNone/>
            </a:pPr>
            <a:endParaRPr lang="en-US" dirty="0" smtClean="0"/>
          </a:p>
          <a:p>
            <a:pPr marL="225425" indent="0" algn="just">
              <a:buNone/>
            </a:pPr>
            <a:endParaRPr lang="en-US" dirty="0"/>
          </a:p>
          <a:p>
            <a:pPr marL="225425" indent="0" algn="just">
              <a:buNone/>
            </a:pPr>
            <a:endParaRPr lang="en-US" dirty="0" smtClean="0"/>
          </a:p>
          <a:p>
            <a:pPr marL="225425" indent="0" algn="just">
              <a:buNone/>
            </a:pPr>
            <a:endParaRPr lang="en-US" dirty="0" smtClean="0"/>
          </a:p>
          <a:p>
            <a:pPr marL="225425" indent="0" algn="just">
              <a:buNone/>
            </a:pPr>
            <a:endParaRPr lang="en-US" dirty="0"/>
          </a:p>
          <a:p>
            <a:pPr marL="225425" indent="0" algn="just">
              <a:buNone/>
            </a:pPr>
            <a:endParaRPr lang="en-US" dirty="0" smtClean="0"/>
          </a:p>
          <a:p>
            <a:pPr marL="225425" indent="0" algn="just">
              <a:buNone/>
            </a:pPr>
            <a:r>
              <a:rPr lang="en-US" dirty="0" smtClean="0"/>
              <a:t>Puppet is IT </a:t>
            </a:r>
            <a:r>
              <a:rPr lang="en-US" dirty="0"/>
              <a:t>automation software that makes it easy for systems administrators to provision, configure, and manage infrastructure throughout its lifecycle.</a:t>
            </a:r>
            <a:endParaRPr lang="en-US" b="1" i="1" dirty="0"/>
          </a:p>
        </p:txBody>
      </p:sp>
      <p:pic>
        <p:nvPicPr>
          <p:cNvPr id="6" name="Content Placeholder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143000"/>
            <a:ext cx="2895600" cy="3263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7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Puppet Works ?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219200"/>
            <a:ext cx="79248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Puppet is typically (but not always) used in a client/server formation, with all of your clients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talking to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or more central servers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client contacts the server periodically (every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30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mins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default), downloads the latest configuration, and makes sure it is in sync with that configuration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Once done, the client can send a report back to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server.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Puppet Works ?</a:t>
            </a:r>
            <a:endParaRPr lang="en-US" dirty="0"/>
          </a:p>
        </p:txBody>
      </p:sp>
      <p:sp>
        <p:nvSpPr>
          <p:cNvPr id="5" name="Content Placeholder 3"/>
          <p:cNvSpPr>
            <a:spLocks noGrp="1"/>
          </p:cNvSpPr>
          <p:nvPr>
            <p:ph sz="half" idx="4294967295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Data flow diagram in a regular puppet implementation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962400" y="2171700"/>
            <a:ext cx="1752600" cy="457200"/>
          </a:xfrm>
          <a:prstGeom prst="roundRect">
            <a:avLst/>
          </a:prstGeom>
          <a:solidFill>
            <a:srgbClr val="A719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Puppetmasterd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22701" y="2286001"/>
            <a:ext cx="792415" cy="228600"/>
          </a:xfrm>
          <a:prstGeom prst="rect">
            <a:avLst/>
          </a:prstGeom>
          <a:solidFill>
            <a:srgbClr val="892A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SVN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9400" y="3810000"/>
            <a:ext cx="838200" cy="914400"/>
          </a:xfrm>
          <a:prstGeom prst="roundRect">
            <a:avLst/>
          </a:prstGeom>
          <a:solidFill>
            <a:srgbClr val="E37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7922" y="4429541"/>
            <a:ext cx="838200" cy="914400"/>
          </a:xfrm>
          <a:prstGeom prst="roundRect">
            <a:avLst/>
          </a:prstGeom>
          <a:solidFill>
            <a:srgbClr val="E37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6444" y="3810000"/>
            <a:ext cx="838200" cy="914400"/>
          </a:xfrm>
          <a:prstGeom prst="roundRect">
            <a:avLst/>
          </a:prstGeom>
          <a:solidFill>
            <a:srgbClr val="E37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Client</a:t>
            </a:r>
          </a:p>
        </p:txBody>
      </p:sp>
      <p:cxnSp>
        <p:nvCxnSpPr>
          <p:cNvPr id="11" name="Straight Arrow Connector 10"/>
          <p:cNvCxnSpPr>
            <a:stCxn id="7" idx="3"/>
            <a:endCxn id="6" idx="1"/>
          </p:cNvCxnSpPr>
          <p:nvPr/>
        </p:nvCxnSpPr>
        <p:spPr>
          <a:xfrm flipV="1">
            <a:off x="2215116" y="2400300"/>
            <a:ext cx="174728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2"/>
            <a:endCxn id="8" idx="0"/>
          </p:cNvCxnSpPr>
          <p:nvPr/>
        </p:nvCxnSpPr>
        <p:spPr>
          <a:xfrm flipH="1">
            <a:off x="3238500" y="2628900"/>
            <a:ext cx="1600200" cy="118110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9" idx="0"/>
          </p:cNvCxnSpPr>
          <p:nvPr/>
        </p:nvCxnSpPr>
        <p:spPr>
          <a:xfrm>
            <a:off x="4838700" y="2628900"/>
            <a:ext cx="48322" cy="180064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2"/>
            <a:endCxn id="10" idx="0"/>
          </p:cNvCxnSpPr>
          <p:nvPr/>
        </p:nvCxnSpPr>
        <p:spPr>
          <a:xfrm>
            <a:off x="4838700" y="2628900"/>
            <a:ext cx="1696844" cy="118110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3662916" y="2636874"/>
            <a:ext cx="795839" cy="1403498"/>
          </a:xfrm>
          <a:custGeom>
            <a:avLst/>
            <a:gdLst>
              <a:gd name="connsiteX0" fmla="*/ 0 w 1015410"/>
              <a:gd name="connsiteY0" fmla="*/ 1403498 h 1403498"/>
              <a:gd name="connsiteX1" fmla="*/ 696433 w 1015410"/>
              <a:gd name="connsiteY1" fmla="*/ 1089838 h 1403498"/>
              <a:gd name="connsiteX2" fmla="*/ 1015410 w 1015410"/>
              <a:gd name="connsiteY2" fmla="*/ 0 h 140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5410" h="1403498">
                <a:moveTo>
                  <a:pt x="0" y="1403498"/>
                </a:moveTo>
                <a:cubicBezTo>
                  <a:pt x="263599" y="1363626"/>
                  <a:pt x="527198" y="1323754"/>
                  <a:pt x="696433" y="1089838"/>
                </a:cubicBezTo>
                <a:cubicBezTo>
                  <a:pt x="865668" y="855922"/>
                  <a:pt x="940539" y="427961"/>
                  <a:pt x="1015410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5148679" y="2626191"/>
            <a:ext cx="489066" cy="1945809"/>
          </a:xfrm>
          <a:custGeom>
            <a:avLst/>
            <a:gdLst>
              <a:gd name="connsiteX0" fmla="*/ 154173 w 486271"/>
              <a:gd name="connsiteY0" fmla="*/ 2041452 h 2041452"/>
              <a:gd name="connsiteX1" fmla="*/ 483782 w 486271"/>
              <a:gd name="connsiteY1" fmla="*/ 1026042 h 2041452"/>
              <a:gd name="connsiteX2" fmla="*/ 0 w 486271"/>
              <a:gd name="connsiteY2" fmla="*/ 0 h 2041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271" h="2041452">
                <a:moveTo>
                  <a:pt x="154173" y="2041452"/>
                </a:moveTo>
                <a:cubicBezTo>
                  <a:pt x="331825" y="1703868"/>
                  <a:pt x="509478" y="1366284"/>
                  <a:pt x="483782" y="1026042"/>
                </a:cubicBezTo>
                <a:cubicBezTo>
                  <a:pt x="458087" y="685800"/>
                  <a:pt x="229043" y="34290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5612071" y="2626192"/>
            <a:ext cx="1550729" cy="1336208"/>
          </a:xfrm>
          <a:custGeom>
            <a:avLst/>
            <a:gdLst>
              <a:gd name="connsiteX0" fmla="*/ 1525772 w 1766930"/>
              <a:gd name="connsiteY0" fmla="*/ 1387549 h 1387549"/>
              <a:gd name="connsiteX1" fmla="*/ 1642730 w 1766930"/>
              <a:gd name="connsiteY1" fmla="*/ 893135 h 1387549"/>
              <a:gd name="connsiteX2" fmla="*/ 0 w 1766930"/>
              <a:gd name="connsiteY2" fmla="*/ 0 h 1387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6930" h="1387549">
                <a:moveTo>
                  <a:pt x="1525772" y="1387549"/>
                </a:moveTo>
                <a:cubicBezTo>
                  <a:pt x="1711398" y="1255971"/>
                  <a:pt x="1897025" y="1124393"/>
                  <a:pt x="1642730" y="893135"/>
                </a:cubicBezTo>
                <a:cubicBezTo>
                  <a:pt x="1388435" y="661877"/>
                  <a:pt x="694217" y="330938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946701" y="2653855"/>
            <a:ext cx="80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Catalog</a:t>
            </a:r>
            <a:endParaRPr lang="en-US" sz="1400" dirty="0">
              <a:solidFill>
                <a:srgbClr val="4D4F53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38900" y="2843004"/>
            <a:ext cx="972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Reports</a:t>
            </a:r>
            <a:endParaRPr lang="en-US" sz="1400" dirty="0">
              <a:solidFill>
                <a:srgbClr val="4D4F53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067396" y="2628899"/>
            <a:ext cx="1186279" cy="1178329"/>
          </a:xfrm>
          <a:custGeom>
            <a:avLst/>
            <a:gdLst>
              <a:gd name="connsiteX0" fmla="*/ 1483822 w 1483822"/>
              <a:gd name="connsiteY0" fmla="*/ 0 h 1184564"/>
              <a:gd name="connsiteX1" fmla="*/ 349135 w 1483822"/>
              <a:gd name="connsiteY1" fmla="*/ 527859 h 1184564"/>
              <a:gd name="connsiteX2" fmla="*/ 0 w 1483822"/>
              <a:gd name="connsiteY2" fmla="*/ 1184564 h 1184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3822" h="1184564">
                <a:moveTo>
                  <a:pt x="1483822" y="0"/>
                </a:moveTo>
                <a:cubicBezTo>
                  <a:pt x="1040130" y="165216"/>
                  <a:pt x="596439" y="330432"/>
                  <a:pt x="349135" y="527859"/>
                </a:cubicBezTo>
                <a:cubicBezTo>
                  <a:pt x="101831" y="725286"/>
                  <a:pt x="50915" y="954925"/>
                  <a:pt x="0" y="1184564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4545993" y="2626191"/>
            <a:ext cx="177685" cy="1807132"/>
          </a:xfrm>
          <a:custGeom>
            <a:avLst/>
            <a:gdLst>
              <a:gd name="connsiteX0" fmla="*/ 69343 w 177685"/>
              <a:gd name="connsiteY0" fmla="*/ 0 h 1807132"/>
              <a:gd name="connsiteX1" fmla="*/ 4339 w 177685"/>
              <a:gd name="connsiteY1" fmla="*/ 632713 h 1807132"/>
              <a:gd name="connsiteX2" fmla="*/ 177685 w 177685"/>
              <a:gd name="connsiteY2" fmla="*/ 1807132 h 180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685" h="1807132">
                <a:moveTo>
                  <a:pt x="69343" y="0"/>
                </a:moveTo>
                <a:cubicBezTo>
                  <a:pt x="27812" y="165762"/>
                  <a:pt x="-13718" y="331524"/>
                  <a:pt x="4339" y="632713"/>
                </a:cubicBezTo>
                <a:cubicBezTo>
                  <a:pt x="22396" y="933902"/>
                  <a:pt x="100040" y="1370517"/>
                  <a:pt x="177685" y="1807132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/>
          <p:cNvSpPr/>
          <p:nvPr/>
        </p:nvSpPr>
        <p:spPr>
          <a:xfrm>
            <a:off x="5369391" y="2630525"/>
            <a:ext cx="1352099" cy="1187420"/>
          </a:xfrm>
          <a:custGeom>
            <a:avLst/>
            <a:gdLst>
              <a:gd name="connsiteX0" fmla="*/ 0 w 1352099"/>
              <a:gd name="connsiteY0" fmla="*/ 0 h 1187420"/>
              <a:gd name="connsiteX1" fmla="*/ 1031409 w 1352099"/>
              <a:gd name="connsiteY1" fmla="*/ 663048 h 1187420"/>
              <a:gd name="connsiteX2" fmla="*/ 1352099 w 1352099"/>
              <a:gd name="connsiteY2" fmla="*/ 1187420 h 118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2099" h="1187420">
                <a:moveTo>
                  <a:pt x="0" y="0"/>
                </a:moveTo>
                <a:cubicBezTo>
                  <a:pt x="403029" y="232572"/>
                  <a:pt x="806059" y="465145"/>
                  <a:pt x="1031409" y="663048"/>
                </a:cubicBezTo>
                <a:cubicBezTo>
                  <a:pt x="1256759" y="860951"/>
                  <a:pt x="1347043" y="1092080"/>
                  <a:pt x="1352099" y="118742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522551" y="2910286"/>
            <a:ext cx="90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US" sz="1400" dirty="0">
              <a:solidFill>
                <a:srgbClr val="4D4F53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 animBg="1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How Puppet Works ? 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676400" y="1115308"/>
            <a:ext cx="2057400" cy="1100644"/>
          </a:xfrm>
          <a:prstGeom prst="roundRect">
            <a:avLst/>
          </a:prstGeom>
          <a:solidFill>
            <a:srgbClr val="A719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Puppetmaster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70428" y="1156202"/>
            <a:ext cx="971549" cy="823191"/>
          </a:xfrm>
          <a:prstGeom prst="roundRect">
            <a:avLst/>
          </a:prstGeom>
          <a:solidFill>
            <a:srgbClr val="E37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75274" y="1413908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abc</a:t>
            </a:r>
            <a:endParaRPr lang="en-US" sz="1400" dirty="0">
              <a:solidFill>
                <a:srgbClr val="4D4F53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86597" y="3264741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def</a:t>
            </a:r>
            <a:endParaRPr lang="en-US" sz="1400" dirty="0">
              <a:solidFill>
                <a:srgbClr val="4D4F53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86597" y="4986588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xyz</a:t>
            </a:r>
            <a:endParaRPr lang="en-US" sz="1400" dirty="0">
              <a:solidFill>
                <a:srgbClr val="4D4F53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743325" y="1241896"/>
            <a:ext cx="3030907" cy="7766"/>
          </a:xfrm>
          <a:prstGeom prst="straightConnector1">
            <a:avLst/>
          </a:prstGeom>
          <a:ln w="190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78250" y="941885"/>
            <a:ext cx="2908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1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bc.us-west-2.compute.internal</a:t>
            </a:r>
            <a:endParaRPr lang="en-US" sz="1400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17485698"/>
              </p:ext>
            </p:extLst>
          </p:nvPr>
        </p:nvGraphicFramePr>
        <p:xfrm>
          <a:off x="371194" y="2928544"/>
          <a:ext cx="3429000" cy="725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</a:tblGrid>
              <a:tr h="34757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solidFill>
                            <a:srgbClr val="4D4F53"/>
                          </a:solidFill>
                          <a:latin typeface="Arial" pitchFamily="34" charset="0"/>
                          <a:cs typeface="Arial" pitchFamily="34" charset="0"/>
                        </a:rPr>
                        <a:t>def.us-west-2.compute.internal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83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4D4F53"/>
                          </a:solidFill>
                          <a:latin typeface="Arial" pitchFamily="34" charset="0"/>
                          <a:cs typeface="Arial" pitchFamily="34" charset="0"/>
                        </a:rPr>
                        <a:t>abc.us-west-2.compute.internal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79321" y="3310337"/>
            <a:ext cx="3429000" cy="305775"/>
          </a:xfrm>
          <a:prstGeom prst="rect">
            <a:avLst/>
          </a:prstGeom>
          <a:solidFill>
            <a:srgbClr val="B4B4B4">
              <a:alpha val="0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2114" y="4317777"/>
            <a:ext cx="3397250" cy="1752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node </a:t>
            </a:r>
            <a:r>
              <a:rPr lang="en-US" sz="1400" dirty="0" err="1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abc</a:t>
            </a:r>
            <a:r>
              <a:rPr lang="en-US" sz="1400" dirty="0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{</a:t>
            </a:r>
          </a:p>
          <a:p>
            <a:r>
              <a:rPr lang="en-US" sz="1400" dirty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       include tomcat6	</a:t>
            </a:r>
          </a:p>
          <a:p>
            <a:r>
              <a:rPr lang="en-US" sz="1400" dirty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}</a:t>
            </a:r>
          </a:p>
          <a:p>
            <a:endParaRPr lang="en-US" sz="1400" dirty="0" smtClean="0">
              <a:solidFill>
                <a:srgbClr val="4D4F53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dirty="0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node </a:t>
            </a:r>
            <a:r>
              <a:rPr lang="en-US" sz="1400" dirty="0" err="1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n-US" sz="1400" dirty="0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{</a:t>
            </a:r>
          </a:p>
          <a:p>
            <a:r>
              <a:rPr lang="en-US" sz="1400" dirty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n-US" sz="1400" dirty="0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include </a:t>
            </a:r>
            <a:r>
              <a:rPr lang="en-US" sz="1400" dirty="0" err="1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mysql</a:t>
            </a:r>
            <a:endParaRPr lang="en-US" sz="1400" dirty="0">
              <a:solidFill>
                <a:srgbClr val="4D4F53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250" y="2490561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/etc/puppet/</a:t>
            </a:r>
            <a:r>
              <a:rPr lang="en-US" sz="1400" dirty="0" err="1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autosign.conf</a:t>
            </a:r>
            <a:endParaRPr lang="en-US" sz="1400" dirty="0">
              <a:solidFill>
                <a:srgbClr val="4D4F53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0531" y="4335945"/>
            <a:ext cx="3398052" cy="785874"/>
          </a:xfrm>
          <a:prstGeom prst="rect">
            <a:avLst/>
          </a:prstGeom>
          <a:solidFill>
            <a:srgbClr val="B4B4B4">
              <a:alpha val="0"/>
            </a:srgb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5523" y="5259217"/>
            <a:ext cx="3394671" cy="747297"/>
          </a:xfrm>
          <a:prstGeom prst="rect">
            <a:avLst/>
          </a:prstGeom>
          <a:solidFill>
            <a:srgbClr val="B4B4B4">
              <a:alpha val="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8775" y="3972839"/>
            <a:ext cx="2508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/etc/puppet/manifests/</a:t>
            </a:r>
            <a:r>
              <a:rPr lang="en-US" sz="1400" dirty="0" err="1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site.pp</a:t>
            </a:r>
            <a:endParaRPr lang="en-US" sz="1400" dirty="0">
              <a:solidFill>
                <a:srgbClr val="4D4F53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71194" y="2939537"/>
            <a:ext cx="3429000" cy="305775"/>
          </a:xfrm>
          <a:prstGeom prst="rect">
            <a:avLst/>
          </a:prstGeom>
          <a:solidFill>
            <a:srgbClr val="B4B4B4">
              <a:alpha val="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" name="Straight Arrow Connector 17"/>
          <p:cNvCxnSpPr>
            <a:stCxn id="3" idx="3"/>
          </p:cNvCxnSpPr>
          <p:nvPr/>
        </p:nvCxnSpPr>
        <p:spPr>
          <a:xfrm>
            <a:off x="3733800" y="1665630"/>
            <a:ext cx="3017578" cy="2802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85232" y="141391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Catalog (webserver)</a:t>
            </a:r>
            <a:endParaRPr lang="en-US" sz="1400" dirty="0">
              <a:solidFill>
                <a:srgbClr val="4D4F53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3733800" y="1444543"/>
            <a:ext cx="3017578" cy="8740"/>
          </a:xfrm>
          <a:prstGeom prst="straightConnector1">
            <a:avLst/>
          </a:prstGeom>
          <a:ln w="190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3750008" y="2096103"/>
            <a:ext cx="2936892" cy="1286558"/>
          </a:xfrm>
          <a:custGeom>
            <a:avLst/>
            <a:gdLst>
              <a:gd name="connsiteX0" fmla="*/ 3038475 w 3038475"/>
              <a:gd name="connsiteY0" fmla="*/ 857250 h 857250"/>
              <a:gd name="connsiteX1" fmla="*/ 0 w 3038475"/>
              <a:gd name="connsiteY1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38475" h="857250">
                <a:moveTo>
                  <a:pt x="3038475" y="85725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0000"/>
            </a:solidFill>
            <a:prstDash val="lg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823881" y="1625540"/>
            <a:ext cx="1009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Report</a:t>
            </a:r>
            <a:endParaRPr lang="en-US" sz="1400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 rot="1422931">
            <a:off x="4206919" y="2595604"/>
            <a:ext cx="2914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def.us-west-2.compute.internal</a:t>
            </a:r>
            <a:endParaRPr 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 rot="1416067">
            <a:off x="4380409" y="2841455"/>
            <a:ext cx="198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4D4F53"/>
                </a:solidFill>
                <a:latin typeface="Arial" pitchFamily="34" charset="0"/>
                <a:cs typeface="Arial" pitchFamily="34" charset="0"/>
              </a:rPr>
              <a:t>Catalog (database server)</a:t>
            </a:r>
            <a:endParaRPr lang="en-US" sz="1200" dirty="0">
              <a:solidFill>
                <a:srgbClr val="4D4F53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2857501" y="2198842"/>
            <a:ext cx="9524" cy="729702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780810" y="3010864"/>
            <a:ext cx="971549" cy="823191"/>
          </a:xfrm>
          <a:prstGeom prst="roundRect">
            <a:avLst/>
          </a:prstGeom>
          <a:solidFill>
            <a:srgbClr val="E37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Client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80810" y="4728882"/>
            <a:ext cx="971549" cy="823191"/>
          </a:xfrm>
          <a:prstGeom prst="roundRect">
            <a:avLst/>
          </a:prstGeom>
          <a:solidFill>
            <a:srgbClr val="E37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Client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367144" y="2226833"/>
            <a:ext cx="3364396" cy="2954766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2477974">
            <a:off x="4766145" y="3940954"/>
            <a:ext cx="1796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xyz.mindtree.com</a:t>
            </a:r>
            <a:endParaRPr lang="en-US" sz="1200" b="1" dirty="0">
              <a:solidFill>
                <a:schemeClr val="bg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3767561" y="1885153"/>
            <a:ext cx="2983817" cy="20452"/>
          </a:xfrm>
          <a:prstGeom prst="straightConnector1">
            <a:avLst/>
          </a:prstGeom>
          <a:ln w="190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379242" y="1181945"/>
            <a:ext cx="177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Request for </a:t>
            </a:r>
            <a:r>
              <a:rPr lang="en-US" sz="1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en-US" sz="1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atalog</a:t>
            </a:r>
            <a:endParaRPr lang="en-US" sz="1400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3200400" y="2229249"/>
            <a:ext cx="0" cy="699295"/>
          </a:xfrm>
          <a:prstGeom prst="line">
            <a:avLst/>
          </a:prstGeom>
          <a:ln w="1905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200400" y="3608087"/>
            <a:ext cx="0" cy="70969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9" grpId="0"/>
      <p:bldP spid="21" grpId="0" animBg="1"/>
      <p:bldP spid="22" grpId="0"/>
      <p:bldP spid="23" grpId="0"/>
      <p:bldP spid="24" grpId="0"/>
      <p:bldP spid="29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Pre-populating the autosign.conf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3"/>
          <p:cNvSpPr txBox="1">
            <a:spLocks/>
          </p:cNvSpPr>
          <p:nvPr/>
        </p:nvSpPr>
        <p:spPr>
          <a:xfrm>
            <a:off x="457200" y="1143000"/>
            <a:ext cx="8229600" cy="49831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run a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cron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job to populate the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autosign.conf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file to enable the puppet master server to automatically sign the incoming requests from clients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queries the Amazon console to get the hostnames or private DNS of all the running machines and writes to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autosign.conf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file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will say the job to be run every minute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2590800"/>
            <a:ext cx="7391400" cy="18288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# autosign.sh- prepopulates the /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etc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/puppet/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autosign.conf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file</a:t>
            </a:r>
          </a:p>
          <a:p>
            <a:pPr algn="just"/>
            <a:endParaRPr lang="en-US" sz="1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export EC2_HOME=/opt/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aws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apitools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/ec2</a:t>
            </a:r>
          </a:p>
          <a:p>
            <a:pPr algn="just"/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export JAVA_HOME=/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usr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/lib/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jvm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jre</a:t>
            </a:r>
            <a:endParaRPr lang="en-US" sz="1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endParaRPr lang="en-US" sz="1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/opt/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aws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apitools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/ec2/bin/ec2-describe-instances -U https://ec2.us-west-2.amazonaws.com -O 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&lt; - -  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You’r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 Access key - - 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&gt; -W </a:t>
            </a:r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&lt; - -  </a:t>
            </a:r>
            <a:r>
              <a:rPr lang="en-US" sz="1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You’r</a:t>
            </a:r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Secret </a:t>
            </a:r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key - - </a:t>
            </a:r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| /bin/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grep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-o -P "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ip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-.*\.internal" &gt; /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etc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/puppet/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autosign.conf</a:t>
            </a:r>
            <a:endParaRPr lang="en-US" sz="1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0600" y="5257799"/>
            <a:ext cx="7391400" cy="533401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*/1 * * * * /root/autosign.sh</a:t>
            </a:r>
            <a:endParaRPr lang="en-US" sz="1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ENC - Defining node Configurations dynamically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457200" y="1143001"/>
            <a:ext cx="8229600" cy="47244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use external node classifier to define configurations for the nodes that come up as a result of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autoscaling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Amazon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ec2_enc.rb is ruby script that takes nodes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fqdn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as parameter and returns a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yaml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document that specifies the state based on the security group of the node.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Embedded below is the ruby script ec2_enc.rb that we use for node classification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Sample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yaml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document used by the above ruby script is shown in the next slide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Object 6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30150475"/>
              </p:ext>
            </p:extLst>
          </p:nvPr>
        </p:nvGraphicFramePr>
        <p:xfrm>
          <a:off x="4219575" y="3886200"/>
          <a:ext cx="703263" cy="519113"/>
        </p:xfrm>
        <a:graphic>
          <a:graphicData uri="http://schemas.openxmlformats.org/presentationml/2006/ole">
            <p:oleObj spid="_x0000_s1027" name="Packager Shell Object" showAsIcon="1" r:id="rId3" imgW="703080" imgH="518400" progId="Package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ENC - Defining node Configurations dynamically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3"/>
          <p:cNvSpPr txBox="1">
            <a:spLocks/>
          </p:cNvSpPr>
          <p:nvPr/>
        </p:nvSpPr>
        <p:spPr>
          <a:xfrm>
            <a:off x="457200" y="1143000"/>
            <a:ext cx="8229600" cy="4983163"/>
          </a:xfrm>
          <a:prstGeom prst="rect">
            <a:avLst/>
          </a:prstGeom>
        </p:spPr>
        <p:txBody>
          <a:bodyPr/>
          <a:lstStyle/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23900" y="1143000"/>
            <a:ext cx="7696200" cy="48768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# Sample </a:t>
            </a:r>
            <a:r>
              <a:rPr lang="en-US" sz="16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yaml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document</a:t>
            </a:r>
          </a:p>
          <a:p>
            <a:pPr algn="just"/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vehiclebussiness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		// Security group of instance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classes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			// Classes to apply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vehiclerentalbusiness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username: 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'root‘		// Module parameters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password: 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'‘**********”</a:t>
            </a:r>
          </a:p>
          <a:p>
            <a:pPr algn="just"/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16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rdsEndPoint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&lt; - -   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RDS Endpoint  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- 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&gt;</a:t>
            </a:r>
          </a:p>
          <a:p>
            <a:pPr algn="just"/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database: 'rental'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port: '3306'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clients: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vehiclepresentation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classes: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vehiclerentalpresentation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busiElb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&lt; - -   </a:t>
            </a:r>
            <a:r>
              <a:rPr lang="en-US" sz="16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Url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of the business load balancer  - - &gt;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tomcatv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'tomcat6'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memIp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&lt; 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-   </a:t>
            </a:r>
            <a:r>
              <a:rPr lang="en-US" sz="16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Memcached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instance IP  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- &gt; 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cfEndPoint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's3-us-west-2.amazonaws.com/</a:t>
            </a:r>
            <a:r>
              <a:rPr lang="en-US" sz="16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srini-cloudfront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'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</a:t>
            </a:r>
            <a:endParaRPr lang="en-US" sz="16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Adding a yum repo to puppet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3"/>
          <p:cNvSpPr txBox="1">
            <a:spLocks/>
          </p:cNvSpPr>
          <p:nvPr/>
        </p:nvSpPr>
        <p:spPr>
          <a:xfrm>
            <a:off x="457200" y="1143000"/>
            <a:ext cx="8229600" cy="49831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write a module to add yum repo on the agents as below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Before any other module execution we tell the agents to include the module to enable the yum repo and then go for executing other modules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Can be done in the same way for apt repo also. Below is the link for module to add apt repo on agents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/>
              </a:rPr>
              <a:t>https://forge.puppetlabs.com/puppetlabs/apt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1676400"/>
            <a:ext cx="7772400" cy="2286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class 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yumrepo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{</a:t>
            </a:r>
            <a:endParaRPr lang="en-US" sz="1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sz="1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yumrepo</a:t>
            </a:r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{ "IUS":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baseurl</a:t>
            </a:r>
            <a:r>
              <a: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=&gt; "</a:t>
            </a:r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http://dl.iuscommunity.org/pub/</a:t>
            </a:r>
            <a:r>
              <a:rPr lang="en-US" sz="1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ius</a:t>
            </a:r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/stable/$</a:t>
            </a:r>
            <a:r>
              <a:rPr lang="en-US" sz="1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operatingsystem</a:t>
            </a:r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/$</a:t>
            </a:r>
            <a:r>
              <a:rPr lang="en-US" sz="1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operatingsystemrelease</a:t>
            </a:r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/$architecture",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1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descr</a:t>
            </a:r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=&gt; "IUS Community repository",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enabled =&gt; 1,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1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gpgcheck</a:t>
            </a:r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=&gt; 0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}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9008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Installing puppet : Pre-Install Steps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143000"/>
            <a:ext cx="8229600" cy="5181600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 the following before installing puppet: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OS/Ruby Version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Embedded below is the supported platform guide.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Deployment type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Agent/master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Standalone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Network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Firewalls: Port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8140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should be open for both master and slave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Name resolution: Every node must have a unique hostname. Forward and reverse DNS should be configured correctly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aphicFrame>
        <p:nvGraphicFramePr>
          <p:cNvPr id="4" name="Object 3">
            <a:hlinkClick r:id="" action="ppaction://ole?verb=1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695158509"/>
              </p:ext>
            </p:extLst>
          </p:nvPr>
        </p:nvGraphicFramePr>
        <p:xfrm>
          <a:off x="3276600" y="2438400"/>
          <a:ext cx="914400" cy="832207"/>
        </p:xfrm>
        <a:graphic>
          <a:graphicData uri="http://schemas.openxmlformats.org/presentationml/2006/ole">
            <p:oleObj spid="_x0000_s2050" name="Bitmap Image" showAsIcon="1" r:id="rId3" imgW="914400" imgH="771480" progId="PBrush">
              <p:embed/>
            </p:oleObj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17370" y="372991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Installing Puppet - In Enterprise Linux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8625" y="1163638"/>
            <a:ext cx="8229600" cy="492835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18415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Enable the puppet labs repository </a:t>
            </a:r>
          </a:p>
          <a:p>
            <a:pPr marL="74930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Enterprise linux 7</a:t>
            </a: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548DD4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    </a:t>
            </a:r>
            <a:r>
              <a:rPr kumimoji="0" lang="sv-SE" sz="16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sudo rpm -ivh http://yum.puppetlabs.com/puppetlabs-release-el-7.noarch.rpm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rgbClr val="892A9C"/>
              </a:solidFill>
              <a:effectLst/>
              <a:uLnTx/>
              <a:uFillTx/>
              <a:latin typeface="Arial" charset="0"/>
              <a:ea typeface="+mn-ea"/>
              <a:cs typeface="Arial" charset="0"/>
              <a:hlinkClick r:id=""/>
            </a:endParaRPr>
          </a:p>
          <a:p>
            <a:pPr marL="74930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Enterprise linux 6</a:t>
            </a: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    </a:t>
            </a:r>
            <a:r>
              <a:rPr kumimoji="0" lang="sv-SE" sz="16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sudo rpm -ivh http://yum.puppetlabs.com/puppetlabs-release-el-6.noarch.rpm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rgbClr val="892A9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74930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Enterprise linux 5</a:t>
            </a: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    </a:t>
            </a:r>
            <a:r>
              <a:rPr kumimoji="0" lang="sv-SE" sz="16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sudo rpm -ivh http://yum.puppetlabs.com/puppetlabs-release-el-5.noarch.rpm</a:t>
            </a: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Install PuppetMaster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sudo yum install puppet-server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Install PuppetAgent/Puppet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 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sudo yum install puppet</a:t>
            </a:r>
          </a:p>
          <a:p>
            <a:pPr marL="18415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74930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892A9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17370" y="360959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j-ea"/>
                <a:cs typeface="Arial" charset="0"/>
              </a:rPr>
              <a:t>Installing Puppet - Windows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j-ea"/>
              <a:cs typeface="Arial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219200"/>
            <a:ext cx="8229600" cy="45720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Download the Puppet installer (.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msi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)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       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hlinkClick r:id="rId3"/>
              </a:rPr>
              <a:t>https://downloads.puppetlabs.com/windows/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Install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PuppetAgent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- With graphical wizard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Double click the installer and follow the installation instructions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Embedded below is the installation screen shot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Note:  	Windows doesn’t  support running puppet master service as of now</a:t>
            </a: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aphicFrame>
        <p:nvGraphicFramePr>
          <p:cNvPr id="4" name="Object 3">
            <a:hlinkClick r:id="" action="ppaction://ole?verb=1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894019393"/>
              </p:ext>
            </p:extLst>
          </p:nvPr>
        </p:nvGraphicFramePr>
        <p:xfrm>
          <a:off x="3276600" y="4267200"/>
          <a:ext cx="1447800" cy="771525"/>
        </p:xfrm>
        <a:graphic>
          <a:graphicData uri="http://schemas.openxmlformats.org/presentationml/2006/ole">
            <p:oleObj spid="_x0000_s3074" name="Bitmap Image" showAsIcon="1" r:id="rId4" imgW="914400" imgH="771480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Installing Puppet - Post Installation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143000"/>
            <a:ext cx="8229600" cy="4953000"/>
          </a:xfrm>
          <a:prstGeom prst="rect">
            <a:avLst/>
          </a:prstGeom>
        </p:spPr>
        <p:txBody>
          <a:bodyPr/>
          <a:lstStyle/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 Whether the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PuppetMaster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Agent services are installed</a:t>
            </a:r>
          </a:p>
          <a:p>
            <a:pPr marL="511175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linux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platform type the following commands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     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service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puppetmaster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status 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      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service puppet status </a:t>
            </a:r>
          </a:p>
          <a:p>
            <a:pPr marL="511175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On windows</a:t>
            </a:r>
          </a:p>
          <a:p>
            <a:pPr marL="790575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Check whether the puppet service is present under the services tab</a:t>
            </a:r>
          </a:p>
          <a:p>
            <a:pPr marL="790575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To open the services tab go to run and enter “services.msc”</a:t>
            </a:r>
          </a:p>
          <a:p>
            <a:pPr marL="790575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If Puppet service is not running start the puppet service manually</a:t>
            </a:r>
          </a:p>
          <a:p>
            <a:pPr marL="790575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Better to the keep the service “Automatic” to enable start on reboot</a:t>
            </a:r>
          </a:p>
          <a:p>
            <a:pPr marL="790575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Below attachment shows the puppet status in services tab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aphicFrame>
        <p:nvGraphicFramePr>
          <p:cNvPr id="4" name="Object 3">
            <a:hlinkClick r:id="" action="ppaction://ole?verb=1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336359328"/>
              </p:ext>
            </p:extLst>
          </p:nvPr>
        </p:nvGraphicFramePr>
        <p:xfrm>
          <a:off x="3810000" y="5867400"/>
          <a:ext cx="914400" cy="771525"/>
        </p:xfrm>
        <a:graphic>
          <a:graphicData uri="http://schemas.openxmlformats.org/presentationml/2006/ole">
            <p:oleObj spid="_x0000_s4098" name="Bitmap Image" showAsIcon="1" r:id="rId3" imgW="914400" imgH="771480" progId="Paint.Picture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Configuring Puppet- puppet.conf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020762"/>
            <a:ext cx="8229600" cy="5151438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puppet.conf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the main configuration file of puppet, which is located in puppet’s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confdir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confdir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the configuration directory of puppet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Table below gives the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confdir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locations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There are four primary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config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sections in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puppet.conf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main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agent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   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58515263"/>
              </p:ext>
            </p:extLst>
          </p:nvPr>
        </p:nvGraphicFramePr>
        <p:xfrm>
          <a:off x="838200" y="2667000"/>
          <a:ext cx="7467600" cy="161544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885209"/>
                <a:gridCol w="4582391"/>
              </a:tblGrid>
              <a:tr h="32780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OS Type</a:t>
                      </a:r>
                      <a:endParaRPr lang="en-US" dirty="0"/>
                    </a:p>
                  </a:txBody>
                  <a:tcPr>
                    <a:solidFill>
                      <a:srgbClr val="A719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Location</a:t>
                      </a:r>
                      <a:endParaRPr lang="en-US" dirty="0"/>
                    </a:p>
                  </a:txBody>
                  <a:tcPr>
                    <a:solidFill>
                      <a:srgbClr val="A71930"/>
                    </a:solidFill>
                  </a:tcPr>
                </a:tc>
              </a:tr>
              <a:tr h="32780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Linux/Ubuntu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16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/puppet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643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Windows 2003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C:\Documents and Settings\All Users\Application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Data\</a:t>
                      </a:r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PuppetLabs</a:t>
                      </a: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\puppet\</a:t>
                      </a:r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780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Windows 2007,2008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C:\ProgramData\PuppetLabs\puppet\etc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onfiguring Puppet- Values in 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puppet.conf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066800"/>
            <a:ext cx="8410136" cy="5029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Following are some of the important values in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puppet.conf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file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Settings for agent nodes should go in the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[agent]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[main]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block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Settings for master should go in the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[master]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[main]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block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Embedded below is the sample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puppet.conf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file for your reference.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50542604"/>
              </p:ext>
            </p:extLst>
          </p:nvPr>
        </p:nvGraphicFramePr>
        <p:xfrm>
          <a:off x="533400" y="3200400"/>
          <a:ext cx="8382000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676"/>
                <a:gridCol w="7400324"/>
              </a:tblGrid>
              <a:tr h="259080">
                <a:tc rowSpan="3"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Master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A719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modulepath</a:t>
                      </a:r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path for modules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92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external_nodes</a:t>
                      </a:r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Used</a:t>
                      </a:r>
                      <a:r>
                        <a:rPr lang="en-US" sz="16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external node classification</a:t>
                      </a:r>
                      <a:endParaRPr lang="en-US" sz="16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confdir</a:t>
                      </a:r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Contains </a:t>
                      </a:r>
                      <a:r>
                        <a:rPr lang="en-US" sz="16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config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files, manifests, modules, and certificates.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92100">
                <a:tc rowSpan="3">
                  <a:txBody>
                    <a:bodyPr/>
                    <a:lstStyle/>
                    <a:p>
                      <a:pPr algn="ctr"/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A719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server: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puppet master server to request configurations from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92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report: 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Whether to send reports to the puppet master(true/false)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92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waitforcert: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frequently puppet agent should ask for a signed certificate.</a:t>
                      </a:r>
                      <a:endParaRPr lang="en-US" sz="16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Object 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02954597"/>
              </p:ext>
            </p:extLst>
          </p:nvPr>
        </p:nvGraphicFramePr>
        <p:xfrm>
          <a:off x="3962400" y="6019800"/>
          <a:ext cx="811213" cy="519113"/>
        </p:xfrm>
        <a:graphic>
          <a:graphicData uri="http://schemas.openxmlformats.org/presentationml/2006/ole">
            <p:oleObj spid="_x0000_s5122" name="Packager Shell Object" showAsIcon="1" r:id="rId3" imgW="811800" imgH="518400" progId="Package">
              <p:embed/>
            </p:oleObj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Agent/Master setup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19616" y="2948824"/>
            <a:ext cx="852525" cy="27381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Consult</a:t>
            </a:r>
            <a:endParaRPr lang="en-US" sz="1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6300" y="2590800"/>
            <a:ext cx="7772400" cy="2286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# /</a:t>
            </a:r>
            <a:r>
              <a:rPr lang="en-US" sz="1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etc</a:t>
            </a:r>
            <a:r>
              <a:rPr lang="en-US" sz="1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/puppet/</a:t>
            </a:r>
            <a:r>
              <a:rPr lang="en-US" sz="1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puppet.conf</a:t>
            </a:r>
            <a:endParaRPr lang="en-US" sz="14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[agent]</a:t>
            </a:r>
          </a:p>
          <a:p>
            <a:endParaRPr lang="en-US" sz="1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server = ip-10-254-39-62.us-west-2.compute.internal</a:t>
            </a:r>
          </a:p>
          <a:p>
            <a:endParaRPr lang="en-US" sz="1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waitforcert</a:t>
            </a:r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= 120</a:t>
            </a:r>
          </a:p>
          <a:p>
            <a:endParaRPr lang="en-US" sz="1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report = true</a:t>
            </a:r>
          </a:p>
          <a:p>
            <a:endParaRPr lang="en-US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9064" y="1143000"/>
            <a:ext cx="8410136" cy="495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 typically works in Agent/Master system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the puppet agents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puppet.conf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file specify the address of the puppet master server as shown below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Agent/Master setup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772150" y="1143000"/>
            <a:ext cx="1905000" cy="4876800"/>
            <a:chOff x="5791200" y="1143000"/>
            <a:chExt cx="1905000" cy="4876800"/>
          </a:xfrm>
        </p:grpSpPr>
        <p:sp>
          <p:nvSpPr>
            <p:cNvPr id="4" name="Rounded Rectangle 3"/>
            <p:cNvSpPr/>
            <p:nvPr/>
          </p:nvSpPr>
          <p:spPr>
            <a:xfrm>
              <a:off x="5791200" y="1143000"/>
              <a:ext cx="1905000" cy="48768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1524000"/>
              <a:ext cx="1295400" cy="68580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3868596"/>
              <a:ext cx="1295400" cy="485266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0621" y="4964980"/>
              <a:ext cx="1295400" cy="485266"/>
            </a:xfrm>
            <a:prstGeom prst="rect">
              <a:avLst/>
            </a:prstGeom>
          </p:spPr>
        </p:pic>
      </p:grpSp>
      <p:cxnSp>
        <p:nvCxnSpPr>
          <p:cNvPr id="8" name="Straight Arrow Connector 7"/>
          <p:cNvCxnSpPr/>
          <p:nvPr/>
        </p:nvCxnSpPr>
        <p:spPr>
          <a:xfrm flipH="1">
            <a:off x="6238875" y="2209800"/>
            <a:ext cx="485777" cy="58605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2"/>
          </p:cNvCxnSpPr>
          <p:nvPr/>
        </p:nvCxnSpPr>
        <p:spPr>
          <a:xfrm>
            <a:off x="6724650" y="2209800"/>
            <a:ext cx="47544" cy="57725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2"/>
          </p:cNvCxnSpPr>
          <p:nvPr/>
        </p:nvCxnSpPr>
        <p:spPr>
          <a:xfrm>
            <a:off x="6724650" y="2209800"/>
            <a:ext cx="542925" cy="582216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3797449" y="2191618"/>
            <a:ext cx="3012926" cy="2685182"/>
          </a:xfrm>
          <a:custGeom>
            <a:avLst/>
            <a:gdLst>
              <a:gd name="connsiteX0" fmla="*/ 0 w 2991856"/>
              <a:gd name="connsiteY0" fmla="*/ 583855 h 2749140"/>
              <a:gd name="connsiteX1" fmla="*/ 1054250 w 2991856"/>
              <a:gd name="connsiteY1" fmla="*/ 132034 h 2749140"/>
              <a:gd name="connsiteX2" fmla="*/ 2173045 w 2991856"/>
              <a:gd name="connsiteY2" fmla="*/ 2660081 h 2749140"/>
              <a:gd name="connsiteX3" fmla="*/ 2926080 w 2991856"/>
              <a:gd name="connsiteY3" fmla="*/ 2175987 h 2749140"/>
              <a:gd name="connsiteX4" fmla="*/ 2904565 w 2991856"/>
              <a:gd name="connsiteY4" fmla="*/ 2154471 h 27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91856" h="2749140">
                <a:moveTo>
                  <a:pt x="0" y="583855"/>
                </a:moveTo>
                <a:cubicBezTo>
                  <a:pt x="346038" y="184925"/>
                  <a:pt x="692076" y="-214004"/>
                  <a:pt x="1054250" y="132034"/>
                </a:cubicBezTo>
                <a:cubicBezTo>
                  <a:pt x="1416424" y="478072"/>
                  <a:pt x="1861073" y="2319422"/>
                  <a:pt x="2173045" y="2660081"/>
                </a:cubicBezTo>
                <a:cubicBezTo>
                  <a:pt x="2485017" y="3000740"/>
                  <a:pt x="2804160" y="2260255"/>
                  <a:pt x="2926080" y="2175987"/>
                </a:cubicBezTo>
                <a:cubicBezTo>
                  <a:pt x="3048000" y="2091719"/>
                  <a:pt x="2976282" y="2123095"/>
                  <a:pt x="2904565" y="2154471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795588" y="1215068"/>
            <a:ext cx="9144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Agent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53175" y="121622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550" y="2794137"/>
            <a:ext cx="1590897" cy="514422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>
            <a:off x="6216239" y="3268259"/>
            <a:ext cx="438767" cy="6093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6702016" y="3240129"/>
            <a:ext cx="108359" cy="62846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6772195" y="3258719"/>
            <a:ext cx="514367" cy="60987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2209800" y="1143000"/>
            <a:ext cx="1905000" cy="4876800"/>
            <a:chOff x="2209800" y="1143000"/>
            <a:chExt cx="1905000" cy="4876800"/>
          </a:xfrm>
        </p:grpSpPr>
        <p:grpSp>
          <p:nvGrpSpPr>
            <p:cNvPr id="19" name="Group 105"/>
            <p:cNvGrpSpPr/>
            <p:nvPr/>
          </p:nvGrpSpPr>
          <p:grpSpPr>
            <a:xfrm>
              <a:off x="2209800" y="1143000"/>
              <a:ext cx="1905000" cy="4876800"/>
              <a:chOff x="2209800" y="1143000"/>
              <a:chExt cx="1905000" cy="4876800"/>
            </a:xfrm>
          </p:grpSpPr>
          <p:sp>
            <p:nvSpPr>
              <p:cNvPr id="21" name="Rounded Rectangle 20"/>
              <p:cNvSpPr/>
              <p:nvPr/>
            </p:nvSpPr>
            <p:spPr>
              <a:xfrm>
                <a:off x="2209800" y="1143000"/>
                <a:ext cx="1905000" cy="487680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14600" y="1524000"/>
                <a:ext cx="1295400" cy="685800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49157" y="3374233"/>
                <a:ext cx="1447799" cy="1375664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25357" y="5054696"/>
                <a:ext cx="1295401" cy="660304"/>
              </a:xfrm>
              <a:prstGeom prst="rect">
                <a:avLst/>
              </a:prstGeom>
            </p:spPr>
          </p:pic>
        </p:grp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08234" y="2566052"/>
              <a:ext cx="1295581" cy="543001"/>
            </a:xfrm>
            <a:prstGeom prst="rect">
              <a:avLst/>
            </a:prstGeom>
          </p:spPr>
        </p:pic>
      </p:grpSp>
      <p:cxnSp>
        <p:nvCxnSpPr>
          <p:cNvPr id="25" name="Straight Arrow Connector 24"/>
          <p:cNvCxnSpPr>
            <a:stCxn id="22" idx="3"/>
            <a:endCxn id="5" idx="1"/>
          </p:cNvCxnSpPr>
          <p:nvPr/>
        </p:nvCxnSpPr>
        <p:spPr>
          <a:xfrm>
            <a:off x="3810000" y="1866900"/>
            <a:ext cx="2266950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3820757" y="2419515"/>
            <a:ext cx="2881257" cy="2418023"/>
          </a:xfrm>
          <a:custGeom>
            <a:avLst/>
            <a:gdLst>
              <a:gd name="connsiteX0" fmla="*/ 0 w 2904565"/>
              <a:gd name="connsiteY0" fmla="*/ 312927 h 2418023"/>
              <a:gd name="connsiteX1" fmla="*/ 580913 w 2904565"/>
              <a:gd name="connsiteY1" fmla="*/ 162320 h 2418023"/>
              <a:gd name="connsiteX2" fmla="*/ 2216076 w 2904565"/>
              <a:gd name="connsiteY2" fmla="*/ 2303092 h 2418023"/>
              <a:gd name="connsiteX3" fmla="*/ 2904565 w 2904565"/>
              <a:gd name="connsiteY3" fmla="*/ 1937332 h 2418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4565" h="2418023">
                <a:moveTo>
                  <a:pt x="0" y="312927"/>
                </a:moveTo>
                <a:cubicBezTo>
                  <a:pt x="105783" y="71776"/>
                  <a:pt x="211567" y="-169374"/>
                  <a:pt x="580913" y="162320"/>
                </a:cubicBezTo>
                <a:cubicBezTo>
                  <a:pt x="950259" y="494014"/>
                  <a:pt x="1828801" y="2007257"/>
                  <a:pt x="2216076" y="2303092"/>
                </a:cubicBezTo>
                <a:cubicBezTo>
                  <a:pt x="2603351" y="2598927"/>
                  <a:pt x="2753958" y="2268129"/>
                  <a:pt x="2904565" y="1937332"/>
                </a:cubicBez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27" name="Straight Arrow Connector 26"/>
          <p:cNvCxnSpPr>
            <a:endCxn id="26" idx="0"/>
          </p:cNvCxnSpPr>
          <p:nvPr/>
        </p:nvCxnSpPr>
        <p:spPr>
          <a:xfrm flipH="1">
            <a:off x="3820757" y="2590801"/>
            <a:ext cx="70182" cy="14164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3727269" y="4749896"/>
            <a:ext cx="2342605" cy="698259"/>
          </a:xfrm>
          <a:custGeom>
            <a:avLst/>
            <a:gdLst>
              <a:gd name="connsiteX0" fmla="*/ 0 w 2342605"/>
              <a:gd name="connsiteY0" fmla="*/ 0 h 719401"/>
              <a:gd name="connsiteX1" fmla="*/ 1149531 w 2342605"/>
              <a:gd name="connsiteY1" fmla="*/ 705395 h 719401"/>
              <a:gd name="connsiteX2" fmla="*/ 2342605 w 2342605"/>
              <a:gd name="connsiteY2" fmla="*/ 487680 h 719401"/>
              <a:gd name="connsiteX3" fmla="*/ 2342605 w 2342605"/>
              <a:gd name="connsiteY3" fmla="*/ 487680 h 7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2605" h="719401">
                <a:moveTo>
                  <a:pt x="0" y="0"/>
                </a:moveTo>
                <a:cubicBezTo>
                  <a:pt x="379548" y="312057"/>
                  <a:pt x="759097" y="624115"/>
                  <a:pt x="1149531" y="705395"/>
                </a:cubicBezTo>
                <a:cubicBezTo>
                  <a:pt x="1539965" y="786675"/>
                  <a:pt x="2342605" y="487680"/>
                  <a:pt x="2342605" y="487680"/>
                </a:cubicBezTo>
                <a:lnTo>
                  <a:pt x="2342605" y="487680"/>
                </a:ln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5924550" y="5210039"/>
            <a:ext cx="156210" cy="4776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2"/>
            <a:endCxn id="24" idx="0"/>
          </p:cNvCxnSpPr>
          <p:nvPr/>
        </p:nvCxnSpPr>
        <p:spPr>
          <a:xfrm>
            <a:off x="3173057" y="4749897"/>
            <a:ext cx="1" cy="304799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3173056" y="3069433"/>
            <a:ext cx="3" cy="3048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Agent/Master Setup- Saying Hi !!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295400"/>
            <a:ext cx="8229600" cy="449580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Before starting off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Ensure that your puppetmaster service is running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Ensure that you can ping your master from agent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 your agent node say</a:t>
            </a:r>
          </a:p>
          <a:p>
            <a:pPr marL="225425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D4F53"/>
              </a:buClr>
              <a:buSzPct val="110000"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 agent --test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 Agent has sent a certificate which is awaiting to be signed by master</a:t>
            </a: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71800"/>
            <a:ext cx="6972300" cy="1476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Agent/Master Setup- Saying Hi !!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23850" y="1143001"/>
            <a:ext cx="8229600" cy="51054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 your master node say</a:t>
            </a: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 cert list		(or)</a:t>
            </a: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puppet cert list --all</a:t>
            </a:r>
          </a:p>
          <a:p>
            <a:pPr marL="225425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D4F53"/>
              </a:buClr>
              <a:buSzPct val="110000"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(This will list all the outstanding certificate requests to be signed)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sign the certificate requests say</a:t>
            </a: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 cert sign &lt;certificate name&gt;		 (or)</a:t>
            </a: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puppet cert sign --all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Good Job !!! Your Agent/Master setup is ready now…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886200"/>
            <a:ext cx="6805613" cy="1457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Autosigning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Certificate requests-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autosign.conf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295400"/>
            <a:ext cx="8229600" cy="47244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 can automatically sign the incoming certificate requests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trick is to populate the file “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autosign.conf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 with the certificate names and domain names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/etc/puppet/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puppet.conf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a CSR arrives, the requested certificate name is checked against the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whitelist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file.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the name is present (or covered by one of the domain names), the certificate is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autosigned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else, it is left for manual review.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971800"/>
            <a:ext cx="6553200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Puppet Language - Manifests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295400"/>
            <a:ext cx="8229600" cy="47244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Manifests are files containing Puppet code.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manifests file ends with an extension “.pp”.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manifests are compiled to form a catalog which is given to puppet agent for enforcing a desired state.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There are two important manifest files in puppet.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init.pp - Manifest file within a puppet module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site.pp - Contains node definitions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Defining node Configurations - 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site.pp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295400"/>
            <a:ext cx="8229600" cy="47244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site.pp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a static way of defining configurations for nodes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With no ENC in place puppet master loads and executes the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site.pp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file first for node definitions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site.pp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located at “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/etc/puppet/manifests/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site.pp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Node definitions work almost exactly like class definitions in puppet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3886200"/>
            <a:ext cx="6629400" cy="23622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#/</a:t>
            </a:r>
            <a:r>
              <a:rPr lang="en-US" sz="16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etc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/puppet/manifests/site.pp</a:t>
            </a: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node default {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include clients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}</a:t>
            </a: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node 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‘</a:t>
            </a:r>
            <a:r>
              <a:rPr lang="en-US" sz="16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puppetagent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'{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include 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tomcat6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}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Puppet Language - Resources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219200"/>
            <a:ext cx="8229600" cy="487680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core of the Puppet language is declaring resources.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Listed below are the important resource types available in puppet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package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Manage packages.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file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Manages files, including their content, ownership, and permissions.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service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Manage running services.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Manage users. This type is mostly built to manage system users.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group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Manage groups. On most platforms this can only create groups.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Executes external commands.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notify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Sends an arbitrary message to the agent run-time log.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more details on resources, please follow the link below</a:t>
            </a: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/>
              </a:rPr>
              <a:t>https://docs.puppetlabs.com/references/latest/type.html</a:t>
            </a: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Puppet Language - Resources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295400"/>
            <a:ext cx="8229600" cy="4876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 resource declaration looks like: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Embedded below is the puppet core types cheat sheet for you reference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Object 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26472425"/>
              </p:ext>
            </p:extLst>
          </p:nvPr>
        </p:nvGraphicFramePr>
        <p:xfrm>
          <a:off x="3733800" y="4480559"/>
          <a:ext cx="1295400" cy="1021081"/>
        </p:xfrm>
        <a:graphic>
          <a:graphicData uri="http://schemas.openxmlformats.org/presentationml/2006/ole">
            <p:oleObj spid="_x0000_s6146" name="Acrobat Document" showAsIcon="1" r:id="rId3" imgW="914400" imgH="771480" progId="AcroExch.Document.7">
              <p:embed/>
            </p:oleObj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1752600"/>
            <a:ext cx="6629400" cy="21336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# A resource declaration: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file { '</a:t>
            </a:r>
            <a:r>
              <a:rPr lang="en-US" sz="16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mysql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-connector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':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path =&gt; '/</a:t>
            </a:r>
            <a:r>
              <a:rPr lang="en-US" sz="16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var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/lib/tomcat7/lib/mysql-connector-java-5.1.24.jar',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ensure =&gt; file,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source =&gt; 'puppet:///modules/</a:t>
            </a:r>
            <a:r>
              <a:rPr lang="en-US" sz="16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vehiclerentalbusiness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/context.xml',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}</a:t>
            </a:r>
            <a:endParaRPr lang="en-US" sz="16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Puppet Language - Classes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295400"/>
            <a:ext cx="8229600" cy="47244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Groups of resource declarations and conditional statements can be wrapped up into a class: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90600" y="2133600"/>
            <a:ext cx="6781800" cy="37338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class tomcat7{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package { 'tomcat7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':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ensure =&gt; installed,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}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package{'tomcat7-admin-webapps':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ensure =&gt; installed,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}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package{'tomcat7-docs-webapp':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ensure =&gt; installed,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}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service{'tomcat7':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ensure =&gt; running,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enable =&gt; true,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}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Puppet Language – Resource Ordering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020762"/>
            <a:ext cx="8229600" cy="4999038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a resource depends on another resource, we should explicitly state the relationship to make sure they happen in the right order.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90600" y="1752600"/>
            <a:ext cx="6781800" cy="4359276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class 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tomcat7 {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package{'tomcat7':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ensure =&gt; installed,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}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package{'tomcat7-admin-webapps':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ensure =&gt; installed,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}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package{'tomcat7-docs-webapp':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ensure =&gt; installed,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}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service{'tomcat7':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ensure =&gt; running,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enable =&gt; true,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}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Package['tomcat7'] -&gt;  Package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['tomcat7-admin-webapps'] </a:t>
            </a:r>
            <a:endParaRPr lang="en-US" sz="16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-&gt;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Package['tomcat7-docs-webapp'] -&gt; Service['tomcat7</a:t>
            </a:r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']	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Puppet Modules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295400"/>
            <a:ext cx="8229600" cy="47244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Modules are self-contained bundles of code and data.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Modules can be located in one of the puppet master’s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modulepath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directories.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know where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modulepath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is, just say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sudo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puppet master --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configprint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modulepath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892A9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can write your own modules or you can download pre-built modules from the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/>
              </a:rPr>
              <a:t>Puppet Forge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Embedded below is the puppet module cheat sheet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Object 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77265873"/>
              </p:ext>
            </p:extLst>
          </p:nvPr>
        </p:nvGraphicFramePr>
        <p:xfrm>
          <a:off x="3352800" y="4648200"/>
          <a:ext cx="914400" cy="771525"/>
        </p:xfrm>
        <a:graphic>
          <a:graphicData uri="http://schemas.openxmlformats.org/presentationml/2006/ole">
            <p:oleObj spid="_x0000_s7170" name="Acrobat Document" showAsIcon="1" r:id="rId4" imgW="914400" imgH="771480" progId="AcroExch.Document.7">
              <p:embed/>
            </p:oleObj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Puppet Module Layout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020762"/>
            <a:ext cx="8229600" cy="4999038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Module is simply a directory tree with a specific, predictable structure: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Sample tomcat6 module which installs tomcat6 server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52087" y="1524000"/>
            <a:ext cx="7639826" cy="3352800"/>
            <a:chOff x="972184" y="1769185"/>
            <a:chExt cx="7639826" cy="4250615"/>
          </a:xfrm>
        </p:grpSpPr>
        <p:sp>
          <p:nvSpPr>
            <p:cNvPr id="5" name="TextBox 4"/>
            <p:cNvSpPr txBox="1"/>
            <p:nvPr/>
          </p:nvSpPr>
          <p:spPr>
            <a:xfrm>
              <a:off x="4277199" y="5605175"/>
              <a:ext cx="29508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4D4F53"/>
                  </a:solidFill>
                  <a:latin typeface="Arial" pitchFamily="34" charset="0"/>
                  <a:cs typeface="Arial" pitchFamily="34" charset="0"/>
                </a:rPr>
                <a:t>Contains spec tests for any plugins in the lib directory.</a:t>
              </a:r>
            </a:p>
          </p:txBody>
        </p:sp>
        <p:grpSp>
          <p:nvGrpSpPr>
            <p:cNvPr id="6" name="Group 97"/>
            <p:cNvGrpSpPr/>
            <p:nvPr/>
          </p:nvGrpSpPr>
          <p:grpSpPr>
            <a:xfrm>
              <a:off x="972185" y="1769185"/>
              <a:ext cx="7639825" cy="4250615"/>
              <a:chOff x="972185" y="1769185"/>
              <a:chExt cx="7639825" cy="4250615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4288137" y="5084619"/>
                <a:ext cx="29508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rgbClr val="4D4F53"/>
                    </a:solidFill>
                    <a:latin typeface="Arial" pitchFamily="34" charset="0"/>
                    <a:cs typeface="Arial" pitchFamily="34" charset="0"/>
                  </a:rPr>
                  <a:t>Contains examples showing how to declare the module’s classes and defined types.</a:t>
                </a:r>
              </a:p>
            </p:txBody>
          </p:sp>
          <p:grpSp>
            <p:nvGrpSpPr>
              <p:cNvPr id="8" name="Group 96"/>
              <p:cNvGrpSpPr/>
              <p:nvPr/>
            </p:nvGrpSpPr>
            <p:grpSpPr>
              <a:xfrm>
                <a:off x="972185" y="1769185"/>
                <a:ext cx="7639825" cy="4250615"/>
                <a:chOff x="972185" y="1769185"/>
                <a:chExt cx="7639825" cy="4250615"/>
              </a:xfrm>
            </p:grpSpPr>
            <p:sp>
              <p:nvSpPr>
                <p:cNvPr id="9" name="TextBox 8"/>
                <p:cNvSpPr txBox="1"/>
                <p:nvPr/>
              </p:nvSpPr>
              <p:spPr>
                <a:xfrm>
                  <a:off x="4277199" y="4614071"/>
                  <a:ext cx="295086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>
                      <a:solidFill>
                        <a:srgbClr val="4D4F53"/>
                      </a:solidFill>
                      <a:latin typeface="Arial" pitchFamily="34" charset="0"/>
                      <a:cs typeface="Arial" pitchFamily="34" charset="0"/>
                    </a:rPr>
                    <a:t>Contains external facts, which are an alternative to Ruby-based custom facts. </a:t>
                  </a:r>
                </a:p>
              </p:txBody>
            </p:sp>
            <p:grpSp>
              <p:nvGrpSpPr>
                <p:cNvPr id="10" name="Group 95"/>
                <p:cNvGrpSpPr/>
                <p:nvPr/>
              </p:nvGrpSpPr>
              <p:grpSpPr>
                <a:xfrm>
                  <a:off x="972185" y="1769185"/>
                  <a:ext cx="7639825" cy="4250615"/>
                  <a:chOff x="972185" y="1769185"/>
                  <a:chExt cx="7639825" cy="4250615"/>
                </a:xfrm>
              </p:grpSpPr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4288137" y="4075052"/>
                    <a:ext cx="2950863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rgbClr val="4D4F53"/>
                        </a:solidFill>
                        <a:latin typeface="Arial" pitchFamily="34" charset="0"/>
                        <a:cs typeface="Arial" pitchFamily="34" charset="0"/>
                      </a:rPr>
                      <a:t>Contains plugins, like custom facts and custom resource types.</a:t>
                    </a:r>
                  </a:p>
                </p:txBody>
              </p:sp>
              <p:grpSp>
                <p:nvGrpSpPr>
                  <p:cNvPr id="12" name="Group 94"/>
                  <p:cNvGrpSpPr/>
                  <p:nvPr/>
                </p:nvGrpSpPr>
                <p:grpSpPr>
                  <a:xfrm>
                    <a:off x="972185" y="1769185"/>
                    <a:ext cx="7639825" cy="4250615"/>
                    <a:chOff x="972185" y="1769185"/>
                    <a:chExt cx="7639825" cy="4250615"/>
                  </a:xfrm>
                </p:grpSpPr>
                <p:sp>
                  <p:nvSpPr>
                    <p:cNvPr id="13" name="Rectangle 12"/>
                    <p:cNvSpPr/>
                    <p:nvPr/>
                  </p:nvSpPr>
                  <p:spPr>
                    <a:xfrm>
                      <a:off x="4288137" y="3634308"/>
                      <a:ext cx="992478" cy="276369"/>
                    </a:xfrm>
                    <a:prstGeom prst="rect">
                      <a:avLst/>
                    </a:prstGeom>
                    <a:solidFill>
                      <a:srgbClr val="B4B4B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s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ample.erb</a:t>
                      </a:r>
                    </a:p>
                  </p:txBody>
                </p:sp>
                <p:sp>
                  <p:nvSpPr>
                    <p:cNvPr id="14" name="TextBox 13"/>
                    <p:cNvSpPr txBox="1"/>
                    <p:nvPr/>
                  </p:nvSpPr>
                  <p:spPr>
                    <a:xfrm>
                      <a:off x="5468319" y="3572438"/>
                      <a:ext cx="2486977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000" dirty="0" smtClean="0">
                          <a:solidFill>
                            <a:srgbClr val="4D4F53"/>
                          </a:solidFill>
                          <a:latin typeface="Arial" pitchFamily="34" charset="0"/>
                          <a:cs typeface="Arial" pitchFamily="34" charset="0"/>
                        </a:rPr>
                        <a:t>Manifests can render this template with </a:t>
                      </a:r>
                      <a:r>
                        <a:rPr lang="en-US" sz="1000" b="1" dirty="0" smtClean="0">
                          <a:solidFill>
                            <a:srgbClr val="4D4F53"/>
                          </a:solidFill>
                          <a:latin typeface="Arial" pitchFamily="34" charset="0"/>
                          <a:cs typeface="Arial" pitchFamily="34" charset="0"/>
                        </a:rPr>
                        <a:t>template(“module_name/</a:t>
                      </a:r>
                      <a:r>
                        <a:rPr lang="en-US" sz="1000" b="1" dirty="0" err="1" smtClean="0">
                          <a:solidFill>
                            <a:srgbClr val="4D4F53"/>
                          </a:solidFill>
                          <a:latin typeface="Arial" pitchFamily="34" charset="0"/>
                          <a:cs typeface="Arial" pitchFamily="34" charset="0"/>
                        </a:rPr>
                        <a:t>sample.erb</a:t>
                      </a:r>
                      <a:r>
                        <a:rPr lang="en-US" sz="1000" b="1" dirty="0" smtClean="0">
                          <a:solidFill>
                            <a:srgbClr val="4D4F53"/>
                          </a:solidFill>
                          <a:latin typeface="Arial" pitchFamily="34" charset="0"/>
                          <a:cs typeface="Arial" pitchFamily="34" charset="0"/>
                        </a:rPr>
                        <a:t>”)</a:t>
                      </a:r>
                      <a:endParaRPr lang="en-US" sz="1000" b="1" dirty="0">
                        <a:solidFill>
                          <a:srgbClr val="4D4F53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grpSp>
                  <p:nvGrpSpPr>
                    <p:cNvPr id="15" name="Group 93"/>
                    <p:cNvGrpSpPr/>
                    <p:nvPr/>
                  </p:nvGrpSpPr>
                  <p:grpSpPr>
                    <a:xfrm>
                      <a:off x="972185" y="1769185"/>
                      <a:ext cx="7639825" cy="4250615"/>
                      <a:chOff x="972185" y="1769185"/>
                      <a:chExt cx="7639825" cy="4250615"/>
                    </a:xfrm>
                  </p:grpSpPr>
                  <p:sp>
                    <p:nvSpPr>
                      <p:cNvPr id="17" name="TextBox 16"/>
                      <p:cNvSpPr txBox="1"/>
                      <p:nvPr/>
                    </p:nvSpPr>
                    <p:spPr>
                      <a:xfrm>
                        <a:off x="5468320" y="3051882"/>
                        <a:ext cx="3143690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000" dirty="0" smtClean="0">
                            <a:solidFill>
                              <a:srgbClr val="4D4F53"/>
                            </a:solidFill>
                            <a:latin typeface="Arial" pitchFamily="34" charset="0"/>
                            <a:cs typeface="Arial" pitchFamily="34" charset="0"/>
                          </a:rPr>
                          <a:t>Can be any file. Manifests can render this with “</a:t>
                        </a:r>
                        <a:r>
                          <a:rPr lang="en-US" sz="1000" b="1" dirty="0" smtClean="0">
                            <a:solidFill>
                              <a:srgbClr val="4D4F53"/>
                            </a:solidFill>
                            <a:latin typeface="Arial" pitchFamily="34" charset="0"/>
                            <a:cs typeface="Arial" pitchFamily="34" charset="0"/>
                          </a:rPr>
                          <a:t>puppet:///modules/module_name/context.xml</a:t>
                        </a:r>
                        <a:r>
                          <a:rPr lang="en-US" sz="1000" dirty="0" smtClean="0">
                            <a:solidFill>
                              <a:srgbClr val="4D4F53"/>
                            </a:solidFill>
                            <a:latin typeface="Arial" pitchFamily="34" charset="0"/>
                            <a:cs typeface="Arial" pitchFamily="34" charset="0"/>
                          </a:rPr>
                          <a:t>”</a:t>
                        </a:r>
                        <a:endParaRPr lang="en-US" sz="1000" dirty="0">
                          <a:solidFill>
                            <a:srgbClr val="4D4F53"/>
                          </a:solidFill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>
                        <a:off x="4288137" y="3123863"/>
                        <a:ext cx="1044470" cy="276369"/>
                      </a:xfrm>
                      <a:prstGeom prst="rect">
                        <a:avLst/>
                      </a:prstGeom>
                      <a:solidFill>
                        <a:srgbClr val="B4B4B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Arial" pitchFamily="34" charset="0"/>
                            <a:cs typeface="Arial" pitchFamily="34" charset="0"/>
                          </a:rPr>
                          <a:t>c</a:t>
                        </a:r>
                        <a:r>
                          <a:rPr lang="en-US" sz="1200" dirty="0" smtClean="0">
                            <a:solidFill>
                              <a:schemeClr val="tx1"/>
                            </a:solidFill>
                            <a:latin typeface="Arial" pitchFamily="34" charset="0"/>
                            <a:cs typeface="Arial" pitchFamily="34" charset="0"/>
                          </a:rPr>
                          <a:t>ontext.xml</a:t>
                        </a:r>
                      </a:p>
                    </p:txBody>
                  </p:sp>
                  <p:grpSp>
                    <p:nvGrpSpPr>
                      <p:cNvPr id="19" name="Group 92"/>
                      <p:cNvGrpSpPr/>
                      <p:nvPr/>
                    </p:nvGrpSpPr>
                    <p:grpSpPr>
                      <a:xfrm>
                        <a:off x="972185" y="1769185"/>
                        <a:ext cx="6983112" cy="4250615"/>
                        <a:chOff x="972185" y="1769185"/>
                        <a:chExt cx="6983112" cy="4250615"/>
                      </a:xfrm>
                    </p:grpSpPr>
                    <p:grpSp>
                      <p:nvGrpSpPr>
                        <p:cNvPr id="21" name="Group 67"/>
                        <p:cNvGrpSpPr/>
                        <p:nvPr/>
                      </p:nvGrpSpPr>
                      <p:grpSpPr>
                        <a:xfrm>
                          <a:off x="972185" y="1769185"/>
                          <a:ext cx="3124201" cy="4250615"/>
                          <a:chOff x="2286000" y="1839220"/>
                          <a:chExt cx="2639211" cy="4250615"/>
                        </a:xfrm>
                      </p:grpSpPr>
                      <p:grpSp>
                        <p:nvGrpSpPr>
                          <p:cNvPr id="25" name="Group 44"/>
                          <p:cNvGrpSpPr/>
                          <p:nvPr/>
                        </p:nvGrpSpPr>
                        <p:grpSpPr>
                          <a:xfrm>
                            <a:off x="2286000" y="1839220"/>
                            <a:ext cx="2639211" cy="4250615"/>
                            <a:chOff x="2590800" y="2116148"/>
                            <a:chExt cx="2639211" cy="4250615"/>
                          </a:xfrm>
                        </p:grpSpPr>
                        <p:sp>
                          <p:nvSpPr>
                            <p:cNvPr id="27" name="Rounded Rectangle 26"/>
                            <p:cNvSpPr/>
                            <p:nvPr/>
                          </p:nvSpPr>
                          <p:spPr>
                            <a:xfrm>
                              <a:off x="2590800" y="2116148"/>
                              <a:ext cx="1828800" cy="533400"/>
                            </a:xfrm>
                            <a:prstGeom prst="roundRect">
                              <a:avLst/>
                            </a:prstGeom>
                            <a:solidFill>
                              <a:srgbClr val="B4B4B4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/>
                              <a:r>
                                <a:rPr lang="en-US" sz="1400" dirty="0" smtClean="0">
                                  <a:solidFill>
                                    <a:schemeClr val="tx1"/>
                                  </a:solidFill>
                                  <a:latin typeface="Arial" pitchFamily="34" charset="0"/>
                                  <a:cs typeface="Arial" pitchFamily="34" charset="0"/>
                                </a:rPr>
                                <a:t>&lt; module_name &gt;</a:t>
                              </a:r>
                            </a:p>
                          </p:txBody>
                        </p:sp>
                        <p:sp>
                          <p:nvSpPr>
                            <p:cNvPr id="28" name="Rounded Rectangle 5"/>
                            <p:cNvSpPr/>
                            <p:nvPr/>
                          </p:nvSpPr>
                          <p:spPr>
                            <a:xfrm>
                              <a:off x="3924300" y="2879170"/>
                              <a:ext cx="1295400" cy="411162"/>
                            </a:xfrm>
                            <a:prstGeom prst="roundRect">
                              <a:avLst/>
                            </a:prstGeom>
                            <a:solidFill>
                              <a:schemeClr val="bg1">
                                <a:lumMod val="50000"/>
                              </a:schemeClr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/>
                              <a:r>
                                <a:rPr lang="en-US" sz="1400" dirty="0" smtClean="0">
                                  <a:solidFill>
                                    <a:schemeClr val="bg1"/>
                                  </a:solidFill>
                                  <a:latin typeface="Arial" pitchFamily="34" charset="0"/>
                                  <a:cs typeface="Arial" pitchFamily="34" charset="0"/>
                                </a:rPr>
                                <a:t>manifests</a:t>
                              </a:r>
                            </a:p>
                          </p:txBody>
                        </p:sp>
                        <p:sp>
                          <p:nvSpPr>
                            <p:cNvPr id="29" name="Rounded Rectangle 28"/>
                            <p:cNvSpPr/>
                            <p:nvPr/>
                          </p:nvSpPr>
                          <p:spPr>
                            <a:xfrm>
                              <a:off x="3924300" y="3408956"/>
                              <a:ext cx="1295400" cy="413786"/>
                            </a:xfrm>
                            <a:prstGeom prst="roundRect">
                              <a:avLst/>
                            </a:prstGeom>
                            <a:solidFill>
                              <a:schemeClr val="bg1">
                                <a:lumMod val="50000"/>
                              </a:schemeClr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/>
                              <a:r>
                                <a:rPr lang="en-US" sz="1400" dirty="0" smtClean="0">
                                  <a:solidFill>
                                    <a:schemeClr val="bg1"/>
                                  </a:solidFill>
                                  <a:latin typeface="Arial" pitchFamily="34" charset="0"/>
                                  <a:cs typeface="Arial" pitchFamily="34" charset="0"/>
                                </a:rPr>
                                <a:t>files</a:t>
                              </a:r>
                            </a:p>
                          </p:txBody>
                        </p:sp>
                        <p:sp>
                          <p:nvSpPr>
                            <p:cNvPr id="30" name="Rounded Rectangle 7"/>
                            <p:cNvSpPr/>
                            <p:nvPr/>
                          </p:nvSpPr>
                          <p:spPr>
                            <a:xfrm>
                              <a:off x="3921610" y="3912373"/>
                              <a:ext cx="1295400" cy="414169"/>
                            </a:xfrm>
                            <a:prstGeom prst="roundRect">
                              <a:avLst/>
                            </a:prstGeom>
                            <a:solidFill>
                              <a:schemeClr val="bg1">
                                <a:lumMod val="50000"/>
                              </a:schemeClr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/>
                              <a:r>
                                <a:rPr lang="en-US" sz="1400" dirty="0" smtClean="0">
                                  <a:solidFill>
                                    <a:schemeClr val="bg1"/>
                                  </a:solidFill>
                                  <a:latin typeface="Arial" pitchFamily="34" charset="0"/>
                                  <a:cs typeface="Arial" pitchFamily="34" charset="0"/>
                                </a:rPr>
                                <a:t>templates</a:t>
                              </a:r>
                            </a:p>
                          </p:txBody>
                        </p:sp>
                        <p:sp>
                          <p:nvSpPr>
                            <p:cNvPr id="31" name="Rounded Rectangle 8"/>
                            <p:cNvSpPr/>
                            <p:nvPr/>
                          </p:nvSpPr>
                          <p:spPr>
                            <a:xfrm>
                              <a:off x="3924300" y="4443805"/>
                              <a:ext cx="1295400" cy="413786"/>
                            </a:xfrm>
                            <a:prstGeom prst="roundRect">
                              <a:avLst/>
                            </a:prstGeom>
                            <a:solidFill>
                              <a:srgbClr val="B4B4B4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/>
                              <a:r>
                                <a:rPr lang="en-US" sz="1400" dirty="0" smtClean="0">
                                  <a:solidFill>
                                    <a:schemeClr val="tx1"/>
                                  </a:solidFill>
                                  <a:latin typeface="Arial" pitchFamily="34" charset="0"/>
                                  <a:cs typeface="Arial" pitchFamily="34" charset="0"/>
                                </a:rPr>
                                <a:t>lib</a:t>
                              </a:r>
                            </a:p>
                          </p:txBody>
                        </p:sp>
                        <p:sp>
                          <p:nvSpPr>
                            <p:cNvPr id="32" name="Rounded Rectangle 9"/>
                            <p:cNvSpPr/>
                            <p:nvPr/>
                          </p:nvSpPr>
                          <p:spPr>
                            <a:xfrm>
                              <a:off x="3921610" y="4961038"/>
                              <a:ext cx="1300779" cy="409718"/>
                            </a:xfrm>
                            <a:prstGeom prst="roundRect">
                              <a:avLst/>
                            </a:prstGeom>
                            <a:solidFill>
                              <a:srgbClr val="B4B4B4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/>
                              <a:r>
                                <a:rPr lang="en-US" sz="1400" dirty="0">
                                  <a:solidFill>
                                    <a:schemeClr val="tx1"/>
                                  </a:solidFill>
                                  <a:latin typeface="Arial" pitchFamily="34" charset="0"/>
                                  <a:cs typeface="Arial" pitchFamily="34" charset="0"/>
                                </a:rPr>
                                <a:t>f</a:t>
                              </a:r>
                              <a:r>
                                <a:rPr lang="en-US" sz="1400" dirty="0" smtClean="0">
                                  <a:solidFill>
                                    <a:schemeClr val="tx1"/>
                                  </a:solidFill>
                                  <a:latin typeface="Arial" pitchFamily="34" charset="0"/>
                                  <a:cs typeface="Arial" pitchFamily="34" charset="0"/>
                                </a:rPr>
                                <a:t>acts.d</a:t>
                              </a:r>
                            </a:p>
                          </p:txBody>
                        </p:sp>
                        <p:sp>
                          <p:nvSpPr>
                            <p:cNvPr id="33" name="Rounded Rectangle 10"/>
                            <p:cNvSpPr/>
                            <p:nvPr/>
                          </p:nvSpPr>
                          <p:spPr>
                            <a:xfrm>
                              <a:off x="3929232" y="5439812"/>
                              <a:ext cx="1300779" cy="411163"/>
                            </a:xfrm>
                            <a:prstGeom prst="roundRect">
                              <a:avLst/>
                            </a:prstGeom>
                            <a:solidFill>
                              <a:srgbClr val="B4B4B4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/>
                              <a:r>
                                <a:rPr lang="en-US" sz="1400" dirty="0" smtClean="0">
                                  <a:solidFill>
                                    <a:schemeClr val="tx1"/>
                                  </a:solidFill>
                                  <a:latin typeface="Arial" pitchFamily="34" charset="0"/>
                                  <a:cs typeface="Arial" pitchFamily="34" charset="0"/>
                                </a:rPr>
                                <a:t>tests</a:t>
                              </a:r>
                            </a:p>
                          </p:txBody>
                        </p:sp>
                        <p:sp>
                          <p:nvSpPr>
                            <p:cNvPr id="34" name="Rounded Rectangle 11"/>
                            <p:cNvSpPr/>
                            <p:nvPr/>
                          </p:nvSpPr>
                          <p:spPr>
                            <a:xfrm>
                              <a:off x="3915785" y="5952977"/>
                              <a:ext cx="1295400" cy="413786"/>
                            </a:xfrm>
                            <a:prstGeom prst="roundRect">
                              <a:avLst/>
                            </a:prstGeom>
                            <a:solidFill>
                              <a:srgbClr val="B4B4B4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/>
                              <a:r>
                                <a:rPr lang="en-US" sz="1400" dirty="0" smtClean="0">
                                  <a:solidFill>
                                    <a:schemeClr val="tx1"/>
                                  </a:solidFill>
                                  <a:latin typeface="Arial" pitchFamily="34" charset="0"/>
                                  <a:cs typeface="Arial" pitchFamily="34" charset="0"/>
                                </a:rPr>
                                <a:t>spec</a:t>
                              </a:r>
                            </a:p>
                          </p:txBody>
                        </p:sp>
                        <p:cxnSp>
                          <p:nvCxnSpPr>
                            <p:cNvPr id="35" name="Straight Connector 14"/>
                            <p:cNvCxnSpPr>
                              <a:stCxn id="27" idx="2"/>
                            </p:cNvCxnSpPr>
                            <p:nvPr/>
                          </p:nvCxnSpPr>
                          <p:spPr>
                            <a:xfrm>
                              <a:off x="3505200" y="2649548"/>
                              <a:ext cx="1850" cy="3510322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6" name="Straight Arrow Connector 35"/>
                            <p:cNvCxnSpPr/>
                            <p:nvPr/>
                          </p:nvCxnSpPr>
                          <p:spPr>
                            <a:xfrm flipV="1">
                              <a:off x="3508899" y="3084751"/>
                              <a:ext cx="415401" cy="9366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7" name="Straight Arrow Connector 36"/>
                            <p:cNvCxnSpPr>
                              <a:endCxn id="29" idx="1"/>
                            </p:cNvCxnSpPr>
                            <p:nvPr/>
                          </p:nvCxnSpPr>
                          <p:spPr>
                            <a:xfrm flipV="1">
                              <a:off x="3505200" y="3615849"/>
                              <a:ext cx="419100" cy="4592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8" name="Straight Arrow Connector 37"/>
                            <p:cNvCxnSpPr/>
                            <p:nvPr/>
                          </p:nvCxnSpPr>
                          <p:spPr>
                            <a:xfrm flipV="1">
                              <a:off x="3500384" y="4119458"/>
                              <a:ext cx="421226" cy="4682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9" name="Straight Arrow Connector 38"/>
                            <p:cNvCxnSpPr>
                              <a:endCxn id="30" idx="1"/>
                            </p:cNvCxnSpPr>
                            <p:nvPr/>
                          </p:nvCxnSpPr>
                          <p:spPr>
                            <a:xfrm flipV="1">
                              <a:off x="3500384" y="4650698"/>
                              <a:ext cx="423916" cy="6842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0" name="Straight Arrow Connector 39"/>
                            <p:cNvCxnSpPr/>
                            <p:nvPr/>
                          </p:nvCxnSpPr>
                          <p:spPr>
                            <a:xfrm>
                              <a:off x="3507050" y="5161089"/>
                              <a:ext cx="414560" cy="4808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1" name="Straight Arrow Connector 40"/>
                            <p:cNvCxnSpPr>
                              <a:endCxn id="31" idx="1"/>
                            </p:cNvCxnSpPr>
                            <p:nvPr/>
                          </p:nvCxnSpPr>
                          <p:spPr>
                            <a:xfrm>
                              <a:off x="3507050" y="5644671"/>
                              <a:ext cx="422182" cy="723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26" name="Straight Arrow Connector 25"/>
                          <p:cNvCxnSpPr/>
                          <p:nvPr/>
                        </p:nvCxnSpPr>
                        <p:spPr>
                          <a:xfrm>
                            <a:off x="3202250" y="5882942"/>
                            <a:ext cx="408735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22" name="Rectangle 21"/>
                        <p:cNvSpPr/>
                        <p:nvPr/>
                      </p:nvSpPr>
                      <p:spPr>
                        <a:xfrm>
                          <a:off x="4288137" y="2608969"/>
                          <a:ext cx="609600" cy="276369"/>
                        </a:xfrm>
                        <a:prstGeom prst="rect">
                          <a:avLst/>
                        </a:prstGeom>
                        <a:solidFill>
                          <a:srgbClr val="B4B4B4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latin typeface="Arial" pitchFamily="34" charset="0"/>
                              <a:cs typeface="Arial" pitchFamily="34" charset="0"/>
                            </a:rPr>
                            <a:t>i</a:t>
                          </a:r>
                          <a:r>
                            <a:rPr lang="en-US" sz="1200" dirty="0" smtClean="0">
                              <a:solidFill>
                                <a:schemeClr val="tx1"/>
                              </a:solidFill>
                              <a:latin typeface="Arial" pitchFamily="34" charset="0"/>
                              <a:cs typeface="Arial" pitchFamily="34" charset="0"/>
                            </a:rPr>
                            <a:t>nit.pp</a:t>
                          </a:r>
                        </a:p>
                      </p:txBody>
                    </p:sp>
                    <p:sp>
                      <p:nvSpPr>
                        <p:cNvPr id="23" name="TextBox 22"/>
                        <p:cNvSpPr txBox="1"/>
                        <p:nvPr/>
                      </p:nvSpPr>
                      <p:spPr>
                        <a:xfrm>
                          <a:off x="5468320" y="2531327"/>
                          <a:ext cx="2486977" cy="50725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000" dirty="0" smtClean="0">
                              <a:solidFill>
                                <a:srgbClr val="4D4F53"/>
                              </a:solidFill>
                              <a:latin typeface="Arial" pitchFamily="34" charset="0"/>
                              <a:cs typeface="Arial" pitchFamily="34" charset="0"/>
                            </a:rPr>
                            <a:t>Contains class definition. </a:t>
                          </a:r>
                          <a:r>
                            <a:rPr lang="en-US" sz="1000" b="1" dirty="0" smtClean="0">
                              <a:solidFill>
                                <a:srgbClr val="4D4F53"/>
                              </a:solidFill>
                              <a:latin typeface="Arial" pitchFamily="34" charset="0"/>
                              <a:cs typeface="Arial" pitchFamily="34" charset="0"/>
                            </a:rPr>
                            <a:t>Class name should be same as module name</a:t>
                          </a:r>
                          <a:endParaRPr lang="en-US" sz="1000" b="1" dirty="0">
                            <a:solidFill>
                              <a:srgbClr val="4D4F53"/>
                            </a:solidFill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cxnSp>
                      <p:nvCxnSpPr>
                        <p:cNvPr id="24" name="Straight Arrow Connector 23"/>
                        <p:cNvCxnSpPr>
                          <a:endCxn id="22" idx="1"/>
                        </p:cNvCxnSpPr>
                        <p:nvPr/>
                      </p:nvCxnSpPr>
                      <p:spPr>
                        <a:xfrm>
                          <a:off x="4084178" y="2737788"/>
                          <a:ext cx="203959" cy="9366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20" name="Straight Arrow Connector 19"/>
                      <p:cNvCxnSpPr>
                        <a:stCxn id="29" idx="3"/>
                        <a:endCxn id="18" idx="1"/>
                      </p:cNvCxnSpPr>
                      <p:nvPr/>
                    </p:nvCxnSpPr>
                    <p:spPr>
                      <a:xfrm flipV="1">
                        <a:off x="4084178" y="3262048"/>
                        <a:ext cx="203959" cy="683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bg1">
                            <a:lumMod val="65000"/>
                          </a:schemeClr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6" name="Straight Arrow Connector 15"/>
                    <p:cNvCxnSpPr>
                      <a:endCxn id="13" idx="1"/>
                    </p:cNvCxnSpPr>
                    <p:nvPr/>
                  </p:nvCxnSpPr>
                  <p:spPr>
                    <a:xfrm flipV="1">
                      <a:off x="4080993" y="3772493"/>
                      <a:ext cx="207144" cy="2"/>
                    </a:xfrm>
                    <a:prstGeom prst="straightConnector1">
                      <a:avLst/>
                    </a:prstGeom>
                    <a:ln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graphicFrame>
        <p:nvGraphicFramePr>
          <p:cNvPr id="42" name="Object 1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44793828"/>
              </p:ext>
            </p:extLst>
          </p:nvPr>
        </p:nvGraphicFramePr>
        <p:xfrm>
          <a:off x="3581400" y="5943600"/>
          <a:ext cx="771525" cy="519113"/>
        </p:xfrm>
        <a:graphic>
          <a:graphicData uri="http://schemas.openxmlformats.org/presentationml/2006/ole">
            <p:oleObj spid="_x0000_s8194" name="Packager Shell Object" showAsIcon="1" r:id="rId3" imgW="772200" imgH="518400" progId="Package">
              <p:embed/>
            </p:oleObj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MCollective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- Pushing changes selectively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295400"/>
            <a:ext cx="8229600" cy="47244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typical Puppet Agent/Master setup is a pull based system, wherein clients ask for the configurations periodically.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With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MCollective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Puppet master can push the configurations to the agents as and when needed.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Marionette Collective AKA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MCollective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a framework to build server orchestration or parallel job execution systems.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MCollective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also has Server/Client setup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MCollective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client runs on puppet master server and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MCollective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server runs on all the puppet agent servers.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Yes !!! You read that right….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MCollective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server and client communicate with the help of a middleware/broker called Active-MQ server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Agent/Master setup with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MCollective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in place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791200" y="1260340"/>
            <a:ext cx="2286000" cy="2245100"/>
            <a:chOff x="5791200" y="2313491"/>
            <a:chExt cx="2286000" cy="2377282"/>
          </a:xfrm>
        </p:grpSpPr>
        <p:grpSp>
          <p:nvGrpSpPr>
            <p:cNvPr id="4" name="Group 46"/>
            <p:cNvGrpSpPr/>
            <p:nvPr/>
          </p:nvGrpSpPr>
          <p:grpSpPr>
            <a:xfrm>
              <a:off x="5791200" y="2313491"/>
              <a:ext cx="2286000" cy="2377282"/>
              <a:chOff x="914400" y="2057400"/>
              <a:chExt cx="2286000" cy="2377282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914400" y="2057400"/>
                <a:ext cx="2286000" cy="2377282"/>
                <a:chOff x="914400" y="1541797"/>
                <a:chExt cx="2286000" cy="2377282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914400" y="1541797"/>
                  <a:ext cx="2286000" cy="2377282"/>
                </a:xfrm>
                <a:prstGeom prst="rect">
                  <a:avLst/>
                </a:prstGeom>
                <a:solidFill>
                  <a:srgbClr val="E3722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4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914400" y="1541797"/>
                  <a:ext cx="2286000" cy="457200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40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Managed Server 1</a:t>
                  </a:r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1333500" y="2708263"/>
                <a:ext cx="1447800" cy="527313"/>
                <a:chOff x="904875" y="4296159"/>
                <a:chExt cx="1085850" cy="590549"/>
              </a:xfrm>
            </p:grpSpPr>
            <p:sp>
              <p:nvSpPr>
                <p:cNvPr id="8" name="Rounded Rectangle 7"/>
                <p:cNvSpPr/>
                <p:nvPr/>
              </p:nvSpPr>
              <p:spPr>
                <a:xfrm>
                  <a:off x="904875" y="4296159"/>
                  <a:ext cx="1085850" cy="59054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4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9" name="Group 8"/>
                <p:cNvGrpSpPr/>
                <p:nvPr/>
              </p:nvGrpSpPr>
              <p:grpSpPr>
                <a:xfrm>
                  <a:off x="990600" y="4353308"/>
                  <a:ext cx="933450" cy="533400"/>
                  <a:chOff x="2138364" y="4539949"/>
                  <a:chExt cx="991791" cy="523875"/>
                </a:xfrm>
              </p:grpSpPr>
              <p:sp>
                <p:nvSpPr>
                  <p:cNvPr id="10" name="Rectangle 9"/>
                  <p:cNvSpPr/>
                  <p:nvPr/>
                </p:nvSpPr>
                <p:spPr>
                  <a:xfrm>
                    <a:off x="2138364" y="4539949"/>
                    <a:ext cx="991791" cy="52387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200" dirty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rPr>
                      <a:t>         Puppet</a:t>
                    </a:r>
                  </a:p>
                </p:txBody>
              </p:sp>
              <p:pic>
                <p:nvPicPr>
                  <p:cNvPr id="11" name="Picture 10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138364" y="4539949"/>
                    <a:ext cx="371475" cy="523875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5" name="Rounded Rectangle 4"/>
            <p:cNvSpPr/>
            <p:nvPr/>
          </p:nvSpPr>
          <p:spPr>
            <a:xfrm>
              <a:off x="6324600" y="3883406"/>
              <a:ext cx="1295400" cy="473518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 err="1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MCollective</a:t>
              </a:r>
              <a:r>
                <a:rPr lang="en-US" sz="1400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 Server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034967" y="1948307"/>
            <a:ext cx="3132722" cy="3458483"/>
            <a:chOff x="761999" y="1885567"/>
            <a:chExt cx="3124201" cy="3232298"/>
          </a:xfrm>
        </p:grpSpPr>
        <p:grpSp>
          <p:nvGrpSpPr>
            <p:cNvPr id="15" name="Group 33"/>
            <p:cNvGrpSpPr/>
            <p:nvPr/>
          </p:nvGrpSpPr>
          <p:grpSpPr>
            <a:xfrm>
              <a:off x="761999" y="1885567"/>
              <a:ext cx="3124201" cy="3232298"/>
              <a:chOff x="5105399" y="1325801"/>
              <a:chExt cx="3124201" cy="3480758"/>
            </a:xfrm>
          </p:grpSpPr>
          <p:grpSp>
            <p:nvGrpSpPr>
              <p:cNvPr id="19" name="Group 37"/>
              <p:cNvGrpSpPr/>
              <p:nvPr/>
            </p:nvGrpSpPr>
            <p:grpSpPr>
              <a:xfrm>
                <a:off x="5105399" y="1325801"/>
                <a:ext cx="3124201" cy="3480758"/>
                <a:chOff x="5791199" y="1396042"/>
                <a:chExt cx="2667002" cy="3480758"/>
              </a:xfrm>
            </p:grpSpPr>
            <p:sp>
              <p:nvSpPr>
                <p:cNvPr id="25" name="Rectangle 24"/>
                <p:cNvSpPr/>
                <p:nvPr/>
              </p:nvSpPr>
              <p:spPr>
                <a:xfrm>
                  <a:off x="5791199" y="1396938"/>
                  <a:ext cx="2667000" cy="3479862"/>
                </a:xfrm>
                <a:prstGeom prst="rect">
                  <a:avLst/>
                </a:prstGeom>
                <a:solidFill>
                  <a:srgbClr val="E3722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4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5791201" y="1396042"/>
                  <a:ext cx="2667000" cy="457200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40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Puppet Master Server</a:t>
                  </a:r>
                </a:p>
              </p:txBody>
            </p:sp>
          </p:grpSp>
          <p:grpSp>
            <p:nvGrpSpPr>
              <p:cNvPr id="20" name="Group 38"/>
              <p:cNvGrpSpPr/>
              <p:nvPr/>
            </p:nvGrpSpPr>
            <p:grpSpPr>
              <a:xfrm>
                <a:off x="5753099" y="2032343"/>
                <a:ext cx="1828800" cy="636493"/>
                <a:chOff x="1061420" y="5095123"/>
                <a:chExt cx="1828800" cy="636493"/>
              </a:xfrm>
              <a:solidFill>
                <a:schemeClr val="bg1"/>
              </a:solidFill>
            </p:grpSpPr>
            <p:sp>
              <p:nvSpPr>
                <p:cNvPr id="21" name="Rounded Rectangle 20"/>
                <p:cNvSpPr/>
                <p:nvPr/>
              </p:nvSpPr>
              <p:spPr>
                <a:xfrm>
                  <a:off x="1061420" y="5095123"/>
                  <a:ext cx="1828800" cy="636493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4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22" name="Group 40"/>
                <p:cNvGrpSpPr/>
                <p:nvPr/>
              </p:nvGrpSpPr>
              <p:grpSpPr>
                <a:xfrm>
                  <a:off x="1261885" y="5151432"/>
                  <a:ext cx="1600201" cy="523875"/>
                  <a:chOff x="2562664" y="4585201"/>
                  <a:chExt cx="1600201" cy="523875"/>
                </a:xfrm>
                <a:grpFill/>
              </p:grpSpPr>
              <p:sp>
                <p:nvSpPr>
                  <p:cNvPr id="23" name="Rectangle 22"/>
                  <p:cNvSpPr/>
                  <p:nvPr/>
                </p:nvSpPr>
                <p:spPr>
                  <a:xfrm>
                    <a:off x="2562665" y="4585201"/>
                    <a:ext cx="1600200" cy="523875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200" dirty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rPr>
                      <a:t>         Puppet Master</a:t>
                    </a:r>
                  </a:p>
                </p:txBody>
              </p:sp>
              <p:pic>
                <p:nvPicPr>
                  <p:cNvPr id="24" name="Picture 23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562664" y="4585201"/>
                    <a:ext cx="371475" cy="523875"/>
                  </a:xfrm>
                  <a:prstGeom prst="rect">
                    <a:avLst/>
                  </a:prstGeom>
                  <a:grpFill/>
                </p:spPr>
              </p:pic>
            </p:grpSp>
          </p:grpSp>
        </p:grpSp>
        <p:sp>
          <p:nvSpPr>
            <p:cNvPr id="16" name="Rounded Rectangle 15"/>
            <p:cNvSpPr/>
            <p:nvPr/>
          </p:nvSpPr>
          <p:spPr>
            <a:xfrm>
              <a:off x="990600" y="3946082"/>
              <a:ext cx="1295400" cy="473518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 err="1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MCollective</a:t>
              </a:r>
              <a:r>
                <a:rPr lang="en-US" sz="1400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 Client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2705100" y="3491666"/>
              <a:ext cx="1028700" cy="1295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638865" y="3942608"/>
              <a:ext cx="1143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Active-MQ</a:t>
              </a:r>
            </a:p>
            <a:p>
              <a:pPr algn="ctr"/>
              <a:r>
                <a:rPr lang="en-US" sz="1400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broker</a:t>
              </a:r>
              <a:endParaRPr lang="en-US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781675" y="3688335"/>
            <a:ext cx="2286000" cy="2245100"/>
            <a:chOff x="5791200" y="2313491"/>
            <a:chExt cx="2286000" cy="2377282"/>
          </a:xfrm>
        </p:grpSpPr>
        <p:grpSp>
          <p:nvGrpSpPr>
            <p:cNvPr id="28" name="Group 76"/>
            <p:cNvGrpSpPr/>
            <p:nvPr/>
          </p:nvGrpSpPr>
          <p:grpSpPr>
            <a:xfrm>
              <a:off x="5791200" y="2313491"/>
              <a:ext cx="2286000" cy="2377282"/>
              <a:chOff x="914400" y="2057400"/>
              <a:chExt cx="2286000" cy="2377282"/>
            </a:xfrm>
          </p:grpSpPr>
          <p:grpSp>
            <p:nvGrpSpPr>
              <p:cNvPr id="30" name="Group 78"/>
              <p:cNvGrpSpPr/>
              <p:nvPr/>
            </p:nvGrpSpPr>
            <p:grpSpPr>
              <a:xfrm>
                <a:off x="914400" y="2057400"/>
                <a:ext cx="2286000" cy="2377282"/>
                <a:chOff x="914400" y="1541797"/>
                <a:chExt cx="2286000" cy="2377282"/>
              </a:xfrm>
            </p:grpSpPr>
            <p:sp>
              <p:nvSpPr>
                <p:cNvPr id="36" name="Rectangle 35"/>
                <p:cNvSpPr/>
                <p:nvPr/>
              </p:nvSpPr>
              <p:spPr>
                <a:xfrm>
                  <a:off x="914400" y="1541797"/>
                  <a:ext cx="2286000" cy="2377282"/>
                </a:xfrm>
                <a:prstGeom prst="rect">
                  <a:avLst/>
                </a:prstGeom>
                <a:solidFill>
                  <a:srgbClr val="E3722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4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914400" y="1541797"/>
                  <a:ext cx="2286000" cy="457200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40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Managed Server 2</a:t>
                  </a:r>
                </a:p>
              </p:txBody>
            </p:sp>
          </p:grpSp>
          <p:grpSp>
            <p:nvGrpSpPr>
              <p:cNvPr id="31" name="Group 79"/>
              <p:cNvGrpSpPr/>
              <p:nvPr/>
            </p:nvGrpSpPr>
            <p:grpSpPr>
              <a:xfrm>
                <a:off x="1333500" y="2708263"/>
                <a:ext cx="1447800" cy="527313"/>
                <a:chOff x="904875" y="4296159"/>
                <a:chExt cx="1085850" cy="590549"/>
              </a:xfrm>
            </p:grpSpPr>
            <p:sp>
              <p:nvSpPr>
                <p:cNvPr id="32" name="Rounded Rectangle 31"/>
                <p:cNvSpPr/>
                <p:nvPr/>
              </p:nvSpPr>
              <p:spPr>
                <a:xfrm>
                  <a:off x="904875" y="4296159"/>
                  <a:ext cx="1085850" cy="59054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4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33" name="Group 81"/>
                <p:cNvGrpSpPr/>
                <p:nvPr/>
              </p:nvGrpSpPr>
              <p:grpSpPr>
                <a:xfrm>
                  <a:off x="990600" y="4353308"/>
                  <a:ext cx="933450" cy="533400"/>
                  <a:chOff x="2138364" y="4539949"/>
                  <a:chExt cx="991791" cy="523875"/>
                </a:xfrm>
              </p:grpSpPr>
              <p:sp>
                <p:nvSpPr>
                  <p:cNvPr id="34" name="Rectangle 33"/>
                  <p:cNvSpPr/>
                  <p:nvPr/>
                </p:nvSpPr>
                <p:spPr>
                  <a:xfrm>
                    <a:off x="2138364" y="4539949"/>
                    <a:ext cx="991791" cy="52387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200" dirty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rPr>
                      <a:t>         Puppet</a:t>
                    </a:r>
                  </a:p>
                </p:txBody>
              </p:sp>
              <p:pic>
                <p:nvPicPr>
                  <p:cNvPr id="35" name="Picture 34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138364" y="4539949"/>
                    <a:ext cx="371475" cy="523875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29" name="Rounded Rectangle 28"/>
            <p:cNvSpPr/>
            <p:nvPr/>
          </p:nvSpPr>
          <p:spPr>
            <a:xfrm>
              <a:off x="6324600" y="3883406"/>
              <a:ext cx="1295400" cy="473518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 err="1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MCollective</a:t>
              </a:r>
              <a:r>
                <a:rPr lang="en-US" sz="1400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 Server</a:t>
              </a:r>
            </a:p>
          </p:txBody>
        </p:sp>
      </p:grpSp>
      <p:sp>
        <p:nvSpPr>
          <p:cNvPr id="38" name="Freeform 37"/>
          <p:cNvSpPr/>
          <p:nvPr/>
        </p:nvSpPr>
        <p:spPr>
          <a:xfrm>
            <a:off x="2528047" y="4219653"/>
            <a:ext cx="1893346" cy="169467"/>
          </a:xfrm>
          <a:custGeom>
            <a:avLst/>
            <a:gdLst>
              <a:gd name="connsiteX0" fmla="*/ 0 w 1893346"/>
              <a:gd name="connsiteY0" fmla="*/ 169467 h 169467"/>
              <a:gd name="connsiteX1" fmla="*/ 1054249 w 1893346"/>
              <a:gd name="connsiteY1" fmla="*/ 18860 h 169467"/>
              <a:gd name="connsiteX2" fmla="*/ 1893346 w 1893346"/>
              <a:gd name="connsiteY2" fmla="*/ 8102 h 169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93346" h="169467">
                <a:moveTo>
                  <a:pt x="0" y="169467"/>
                </a:moveTo>
                <a:cubicBezTo>
                  <a:pt x="369345" y="107610"/>
                  <a:pt x="738691" y="45754"/>
                  <a:pt x="1054249" y="18860"/>
                </a:cubicBezTo>
                <a:cubicBezTo>
                  <a:pt x="1369807" y="-8034"/>
                  <a:pt x="1855694" y="-863"/>
                  <a:pt x="1893346" y="8102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2543176" y="2969111"/>
            <a:ext cx="3782320" cy="1429685"/>
          </a:xfrm>
          <a:custGeom>
            <a:avLst/>
            <a:gdLst>
              <a:gd name="connsiteX0" fmla="*/ 0 w 3786691"/>
              <a:gd name="connsiteY0" fmla="*/ 1430767 h 1430767"/>
              <a:gd name="connsiteX1" fmla="*/ 1043491 w 3786691"/>
              <a:gd name="connsiteY1" fmla="*/ 1054249 h 1430767"/>
              <a:gd name="connsiteX2" fmla="*/ 3786691 w 3786691"/>
              <a:gd name="connsiteY2" fmla="*/ 0 h 1430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86691" h="1430767">
                <a:moveTo>
                  <a:pt x="0" y="1430767"/>
                </a:moveTo>
                <a:cubicBezTo>
                  <a:pt x="206188" y="1361738"/>
                  <a:pt x="1043491" y="1054249"/>
                  <a:pt x="1043491" y="1054249"/>
                </a:cubicBezTo>
                <a:lnTo>
                  <a:pt x="3786691" y="0"/>
                </a:lnTo>
              </a:path>
            </a:pathLst>
          </a:custGeom>
          <a:noFill/>
          <a:ln w="952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2543176" y="4457701"/>
            <a:ext cx="3771900" cy="965100"/>
          </a:xfrm>
          <a:custGeom>
            <a:avLst/>
            <a:gdLst>
              <a:gd name="connsiteX0" fmla="*/ 0 w 3781425"/>
              <a:gd name="connsiteY0" fmla="*/ 0 h 1057275"/>
              <a:gd name="connsiteX1" fmla="*/ 981075 w 3781425"/>
              <a:gd name="connsiteY1" fmla="*/ 266700 h 1057275"/>
              <a:gd name="connsiteX2" fmla="*/ 3781425 w 3781425"/>
              <a:gd name="connsiteY2" fmla="*/ 1057275 h 105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81425" h="1057275">
                <a:moveTo>
                  <a:pt x="0" y="0"/>
                </a:moveTo>
                <a:lnTo>
                  <a:pt x="981075" y="266700"/>
                </a:lnTo>
                <a:lnTo>
                  <a:pt x="3781425" y="1057275"/>
                </a:lnTo>
              </a:path>
            </a:pathLst>
          </a:custGeom>
          <a:noFill/>
          <a:ln w="952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8229600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MCollective Commands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9064" y="1143000"/>
            <a:ext cx="8333936" cy="487680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Basic MCollective commands: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mco ping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mco rpc service &lt;start | stop | restart | status&gt; service = &lt;service_name&gt;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mco puppet runonce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(Same as saying “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puppet agent --test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 from agent)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Using filters: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Filtering nodes based on their hostnames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mco ping –W ec2_hostname = ip-10-0-2-144.us-west-2.compute.internal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Filtering nodes based on the security group to which it belongs to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892A9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mco ping –F ec2_security_groups = demoSecurityGroup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more MCollective commands follow the below link</a:t>
            </a: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/>
              </a:rPr>
              <a:t>https://docs.puppetlabs.com/mcollective/reference/basic/basic_cli_usage.html</a:t>
            </a: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rgbClr val="892A9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1999</Words>
  <Application>Microsoft Office PowerPoint</Application>
  <PresentationFormat>On-screen Show (4:3)</PresentationFormat>
  <Paragraphs>458</Paragraphs>
  <Slides>35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Office Theme</vt:lpstr>
      <vt:lpstr>Packager Shell Object</vt:lpstr>
      <vt:lpstr>Bitmap Image</vt:lpstr>
      <vt:lpstr>Paintbrush Picture</vt:lpstr>
      <vt:lpstr>Acrobat Document</vt:lpstr>
      <vt:lpstr>Puppet</vt:lpstr>
      <vt:lpstr>Slide 2</vt:lpstr>
      <vt:lpstr>Slide 3</vt:lpstr>
      <vt:lpstr>Recalling DevOps</vt:lpstr>
      <vt:lpstr>Recalling DevOps</vt:lpstr>
      <vt:lpstr>What is Puppet</vt:lpstr>
      <vt:lpstr>How Puppet Works ?</vt:lpstr>
      <vt:lpstr>How Puppet Works ?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Puppet</dc:title>
  <dc:creator>Bester</dc:creator>
  <cp:lastModifiedBy>Bester</cp:lastModifiedBy>
  <cp:revision>4</cp:revision>
  <dcterms:created xsi:type="dcterms:W3CDTF">2016-07-16T15:30:39Z</dcterms:created>
  <dcterms:modified xsi:type="dcterms:W3CDTF">2016-07-16T16:01:22Z</dcterms:modified>
</cp:coreProperties>
</file>